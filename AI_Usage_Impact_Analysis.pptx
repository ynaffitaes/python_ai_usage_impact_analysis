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b161abf-2ed7-04f6-7217-130772eb717f}">
          <p14:sldIdLst>
            <p14:sldId id="256"/>
            <p14:sldId id="257"/>
            <p14:sldId id="258"/>
          </p14:sldIdLst>
        </p14:section>
        <p14:section name="Findings" id="{a81c58c8-8919-e8b9-0d81-9104369e8679}">
          <p14:sldIdLst>
            <p14:sldId id="259"/>
            <p14:sldId id="260"/>
            <p14:sldId id="261"/>
            <p14:sldId id="262"/>
            <p14:sldId id="263"/>
          </p14:sldIdLst>
        </p14:section>
        <p14:section name="Modeling" id="{6f62274d-6eec-e9e6-d1eb-241a66919be2}">
          <p14:sldIdLst>
            <p14:sldId id="264"/>
            <p14:sldId id="265"/>
          </p14:sldIdLst>
        </p14:section>
        <p14:section name="Wrap-up" id="{84721bb8-5d43-3656-e115-e1be0883515b}">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Respondents</c:v>
                </c:pt>
              </c:strCache>
            </c:strRef>
          </c:tx>
          <c:spPr>
            <a:solidFill>
              <a:schemeClr val="accent1"/>
            </a:solidFill>
            <a:ln w="9525" cap="flat">
              <a:solidFill>
                <a:srgbClr val="F9F9F9"/>
              </a:solidFill>
              <a:prstDash val="solid"/>
              <a:round/>
            </a:ln>
            <a:effectLst/>
          </c:spPr>
          <c:dPt>
            <c:idx val="0"/>
            <c:bubble3D val="0"/>
            <c:spPr>
              <a:solidFill>
                <a:srgbClr val="6D5BFF"/>
              </a:solidFill>
              <a:effectLst/>
            </c:spPr>
          </c:dPt>
          <c:dPt>
            <c:idx val="1"/>
            <c:bubble3D val="0"/>
            <c:spPr>
              <a:solidFill>
                <a:srgbClr val="14B8A6"/>
              </a:solidFill>
              <a:effectLst/>
            </c:spPr>
          </c:dPt>
          <c:dLbls>
            <c:dLbl>
              <c:idx val="0"/>
              <c:numFmt formatCode="0%" sourceLinked="0"/>
              <c:spPr/>
              <c:txPr>
                <a:bodyPr/>
                <a:lstStyle/>
                <a:p>
                  <a:pPr>
                    <a:defRPr sz="1600" b="1"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600" b="1"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Students</c:v>
                </c:pt>
                <c:pt idx="1">
                  <c:v>Professionals</c:v>
                </c:pt>
              </c:strCache>
            </c:strRef>
          </c:cat>
          <c:val>
            <c:numRef>
              <c:f>Sheet1!$B$2:$B$3</c:f>
              <c:numCache>
                <c:ptCount val="2"/>
                <c:pt idx="0">
                  <c:v>52</c:v>
                </c:pt>
                <c:pt idx="1">
                  <c:v>48</c:v>
                </c:pt>
              </c:numCache>
            </c:numRef>
          </c:val>
        </c:ser>
        <c:firstSliceAng val="0"/>
        <c:holeSize val="62"/>
      </c:doughnutChart>
      <c:spPr>
        <a:noFill/>
        <a:ln>
          <a:noFill/>
        </a:ln>
        <a:effectLst/>
      </c:spPr>
    </c:plotArea>
    <c:legend>
      <c:legendPos val="b"/>
      <c:overlay val="0"/>
      <c:txPr>
        <a:bodyPr/>
        <a:lstStyle/>
        <a:p>
          <a:pPr>
            <a:defRPr sz="1400">
              <a:solidFill>
                <a:srgbClr val="33415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Users</c:v>
                </c:pt>
              </c:strCache>
            </c:strRef>
          </c:tx>
          <c:spPr>
            <a:solidFill>
              <a:srgbClr val="6D5BFF"/>
            </a:solidFill>
            <a:effectLst/>
          </c:spPr>
          <c:invertIfNegative val="0"/>
          <c:dLbls>
            <c:numFmt formatCode="0&quot;%&quot;" sourceLinked="0"/>
            <c:txPr>
              <a:bodyPr/>
              <a:lstStyle/>
              <a:p>
                <a:pPr>
                  <a:defRPr b="1" i="0" strike="noStrike" sz="13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6D5BFF"/>
              </a:solidFill>
              <a:effectLst/>
            </c:spPr>
          </c:dPt>
          <c:dPt>
            <c:idx val="1"/>
            <c:invertIfNegative val="0"/>
            <c:bubble3D val="0"/>
            <c:spPr>
              <a:solidFill>
                <a:srgbClr val="14B8A6"/>
              </a:solidFill>
              <a:effectLst/>
            </c:spPr>
          </c:dPt>
          <c:dPt>
            <c:idx val="2"/>
            <c:invertIfNegative val="0"/>
            <c:bubble3D val="0"/>
            <c:spPr>
              <a:solidFill>
                <a:srgbClr val="14B8A6"/>
              </a:solidFill>
              <a:effectLst/>
            </c:spPr>
          </c:dPt>
          <c:dPt>
            <c:idx val="3"/>
            <c:invertIfNegative val="0"/>
            <c:bubble3D val="0"/>
            <c:spPr>
              <a:solidFill>
                <a:srgbClr val="14B8A6"/>
              </a:solidFill>
              <a:effectLst/>
            </c:spPr>
          </c:dPt>
          <c:dPt>
            <c:idx val="4"/>
            <c:invertIfNegative val="0"/>
            <c:bubble3D val="0"/>
            <c:spPr>
              <a:solidFill>
                <a:srgbClr val="94A3B8"/>
              </a:solidFill>
              <a:effectLst/>
            </c:spPr>
          </c:dPt>
          <c:cat>
            <c:multiLvlStrRef>
              <c:f>Sheet1!$A$2:$A$6</c:f>
              <c:multiLvlStrCache>
                <c:ptCount val="5"/>
                <c:lvl>
                  <c:pt idx="0">
                    <c:v>ChatGPT</c:v>
                  </c:pt>
                  <c:pt idx="1">
                    <c:v>Gemini</c:v>
                  </c:pt>
                  <c:pt idx="2">
                    <c:v>Copilot</c:v>
                  </c:pt>
                  <c:pt idx="3">
                    <c:v>Claude</c:v>
                  </c:pt>
                  <c:pt idx="4">
                    <c:v>Others</c:v>
                  </c:pt>
                </c:lvl>
              </c:multiLvlStrCache>
            </c:multiLvlStrRef>
          </c:cat>
          <c:val>
            <c:numRef>
              <c:f>Sheet1!$B$2:$B$6</c:f>
              <c:numCache>
                <c:formatCode>General</c:formatCode>
                <c:ptCount val="5"/>
                <c:pt idx="0">
                  <c:v>44</c:v>
                </c:pt>
                <c:pt idx="1">
                  <c:v>18</c:v>
                </c:pt>
                <c:pt idx="2">
                  <c:v>16</c:v>
                </c:pt>
                <c:pt idx="3">
                  <c:v>14</c:v>
                </c:pt>
                <c:pt idx="4">
                  <c:v>8</c:v>
                </c:pt>
              </c:numCache>
            </c:numRef>
          </c:val>
        </c:ser>
        <c:dLbls>
          <c:numFmt formatCode="0&quot;%&quot;" sourceLinked="0"/>
          <c:txPr>
            <a:bodyPr/>
            <a:lstStyle/>
            <a:p>
              <a:pPr>
                <a:defRPr b="1" i="0" strike="noStrike" sz="1300" u="none">
                  <a:solidFill>
                    <a:srgbClr val="0F17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5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Users</c:v>
                </c:pt>
              </c:strCache>
            </c:strRef>
          </c:tx>
          <c:spPr>
            <a:solidFill>
              <a:srgbClr val="6D5BFF"/>
            </a:solidFill>
            <a:effectLst/>
          </c:spPr>
          <c:invertIfNegative val="0"/>
          <c:dLbls>
            <c:numFmt formatCode="0&quot;%&quot;" sourceLinked="0"/>
            <c:txPr>
              <a:bodyPr/>
              <a:lstStyle/>
              <a:p>
                <a:pPr>
                  <a:defRPr b="1" i="0" strike="noStrike" sz="13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6D5BFF"/>
              </a:solidFill>
              <a:effectLst/>
            </c:spPr>
          </c:dPt>
          <c:dPt>
            <c:idx val="1"/>
            <c:invertIfNegative val="0"/>
            <c:bubble3D val="0"/>
            <c:spPr>
              <a:solidFill>
                <a:srgbClr val="14B8A6"/>
              </a:solidFill>
              <a:effectLst/>
            </c:spPr>
          </c:dPt>
          <c:dPt>
            <c:idx val="2"/>
            <c:invertIfNegative val="0"/>
            <c:bubble3D val="0"/>
            <c:spPr>
              <a:solidFill>
                <a:srgbClr val="14B8A6"/>
              </a:solidFill>
              <a:effectLst/>
            </c:spPr>
          </c:dPt>
          <c:dPt>
            <c:idx val="3"/>
            <c:invertIfNegative val="0"/>
            <c:bubble3D val="0"/>
            <c:spPr>
              <a:solidFill>
                <a:srgbClr val="94A3B8"/>
              </a:solidFill>
              <a:effectLst/>
            </c:spPr>
          </c:dPt>
          <c:cat>
            <c:multiLvlStrRef>
              <c:f>Sheet1!$A$2:$A$5</c:f>
              <c:multiLvlStrCache>
                <c:ptCount val="4"/>
                <c:lvl>
                  <c:pt idx="0">
                    <c:v>Coding</c:v>
                  </c:pt>
                  <c:pt idx="1">
                    <c:v>Writing</c:v>
                  </c:pt>
                  <c:pt idx="2">
                    <c:v>Studying</c:v>
                  </c:pt>
                  <c:pt idx="3">
                    <c:v>Office Work</c:v>
                  </c:pt>
                </c:lvl>
              </c:multiLvlStrCache>
            </c:multiLvlStrRef>
          </c:cat>
          <c:val>
            <c:numRef>
              <c:f>Sheet1!$B$2:$B$5</c:f>
              <c:numCache>
                <c:formatCode>General</c:formatCode>
                <c:ptCount val="4"/>
                <c:pt idx="0">
                  <c:v>32</c:v>
                </c:pt>
                <c:pt idx="1">
                  <c:v>24</c:v>
                </c:pt>
                <c:pt idx="2">
                  <c:v>21</c:v>
                </c:pt>
                <c:pt idx="3">
                  <c:v>8</c:v>
                </c:pt>
              </c:numCache>
            </c:numRef>
          </c:val>
        </c:ser>
        <c:dLbls>
          <c:numFmt formatCode="0&quot;%&quot;" sourceLinked="0"/>
          <c:txPr>
            <a:bodyPr/>
            <a:lstStyle/>
            <a:p>
              <a:pPr>
                <a:defRPr b="1" i="0" strike="noStrike" sz="1300" u="none">
                  <a:solidFill>
                    <a:srgbClr val="0F17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4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Productivity score</c:v>
                </c:pt>
              </c:strCache>
            </c:strRef>
          </c:tx>
          <c:spPr>
            <a:solidFill>
              <a:srgbClr val="94A3B8"/>
            </a:solidFill>
            <a:effectLst/>
          </c:spPr>
          <c:invertIfNegative val="0"/>
          <c:dLbls>
            <c:numFmt formatCode="0.0" sourceLinked="0"/>
            <c:txPr>
              <a:bodyPr/>
              <a:lstStyle/>
              <a:p>
                <a:pPr>
                  <a:defRPr b="1" i="0" strike="noStrike" sz="13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6D5BFF"/>
              </a:solidFill>
              <a:effectLst/>
            </c:spPr>
          </c:dPt>
          <c:cat>
            <c:multiLvlStrRef>
              <c:f>Sheet1!$A$2:$A$3</c:f>
              <c:multiLvlStrCache>
                <c:ptCount val="2"/>
                <c:lvl>
                  <c:pt idx="0">
                    <c:v>Other users</c:v>
                  </c:pt>
                  <c:pt idx="1">
                    <c:v>Heavy AI users</c:v>
                  </c:pt>
                </c:lvl>
              </c:multiLvlStrCache>
            </c:multiLvlStrRef>
          </c:cat>
          <c:val>
            <c:numRef>
              <c:f>Sheet1!$B$2:$B$3</c:f>
              <c:numCache>
                <c:formatCode>General</c:formatCode>
                <c:ptCount val="2"/>
                <c:pt idx="0">
                  <c:v>3.4</c:v>
                </c:pt>
                <c:pt idx="1">
                  <c:v>4.2</c:v>
                </c:pt>
              </c:numCache>
            </c:numRef>
          </c:val>
        </c:ser>
        <c:dLbls>
          <c:numFmt formatCode="0.0" sourceLinked="0"/>
          <c:txPr>
            <a:bodyPr/>
            <a:lstStyle/>
            <a:p>
              <a:pPr>
                <a:defRPr b="1" i="0" strike="noStrike" sz="1300" u="none">
                  <a:solidFill>
                    <a:srgbClr val="0F17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Time saved</c:v>
                </c:pt>
              </c:strCache>
            </c:strRef>
          </c:tx>
          <c:spPr>
            <a:solidFill>
              <a:srgbClr val="94A3B8"/>
            </a:solidFill>
            <a:effectLst/>
          </c:spPr>
          <c:invertIfNegative val="0"/>
          <c:dLbls>
            <c:numFmt formatCode="0.0" sourceLinked="0"/>
            <c:txPr>
              <a:bodyPr/>
              <a:lstStyle/>
              <a:p>
                <a:pPr>
                  <a:defRPr b="1" i="0" strike="noStrike" sz="13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6D5BFF"/>
              </a:solidFill>
              <a:effectLst/>
            </c:spPr>
          </c:dPt>
          <c:cat>
            <c:multiLvlStrRef>
              <c:f>Sheet1!$A$2:$A$3</c:f>
              <c:multiLvlStrCache>
                <c:ptCount val="2"/>
                <c:lvl>
                  <c:pt idx="0">
                    <c:v>Other users</c:v>
                  </c:pt>
                  <c:pt idx="1">
                    <c:v>Heavy AI users</c:v>
                  </c:pt>
                </c:lvl>
              </c:multiLvlStrCache>
            </c:multiLvlStrRef>
          </c:cat>
          <c:val>
            <c:numRef>
              <c:f>Sheet1!$B$2:$B$3</c:f>
              <c:numCache>
                <c:formatCode>General</c:formatCode>
                <c:ptCount val="2"/>
                <c:pt idx="0">
                  <c:v>4.1</c:v>
                </c:pt>
                <c:pt idx="1">
                  <c:v>7.8</c:v>
                </c:pt>
              </c:numCache>
            </c:numRef>
          </c:val>
        </c:ser>
        <c:dLbls>
          <c:numFmt formatCode="0.0" sourceLinked="0"/>
          <c:txPr>
            <a:bodyPr/>
            <a:lstStyle/>
            <a:p>
              <a:pPr>
                <a:defRPr b="1" i="0" strike="noStrike" sz="1300" u="none">
                  <a:solidFill>
                    <a:srgbClr val="0F17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Importance</c:v>
                </c:pt>
              </c:strCache>
            </c:strRef>
          </c:tx>
          <c:spPr>
            <a:solidFill>
              <a:srgbClr val="6D5BFF"/>
            </a:solidFill>
            <a:effectLst/>
          </c:spPr>
          <c:invertIfNegative val="0"/>
          <c:dLbls>
            <c:numFmt formatCode="0.00" sourceLinked="0"/>
            <c:txPr>
              <a:bodyPr/>
              <a:lstStyle/>
              <a:p>
                <a:pPr>
                  <a:defRPr b="1" i="0" strike="noStrike" sz="13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6D5BFF"/>
              </a:solidFill>
              <a:effectLst/>
            </c:spPr>
          </c:dPt>
          <c:dPt>
            <c:idx val="1"/>
            <c:invertIfNegative val="0"/>
            <c:bubble3D val="0"/>
            <c:spPr>
              <a:solidFill>
                <a:srgbClr val="14B8A6"/>
              </a:solidFill>
              <a:effectLst/>
            </c:spPr>
          </c:dPt>
          <c:dPt>
            <c:idx val="2"/>
            <c:invertIfNegative val="0"/>
            <c:bubble3D val="0"/>
            <c:spPr>
              <a:solidFill>
                <a:srgbClr val="14B8A6"/>
              </a:solidFill>
              <a:effectLst/>
            </c:spPr>
          </c:dPt>
          <c:dPt>
            <c:idx val="3"/>
            <c:invertIfNegative val="0"/>
            <c:bubble3D val="0"/>
            <c:spPr>
              <a:solidFill>
                <a:srgbClr val="94A3B8"/>
              </a:solidFill>
              <a:effectLst/>
            </c:spPr>
          </c:dPt>
          <c:dPt>
            <c:idx val="4"/>
            <c:invertIfNegative val="0"/>
            <c:bubble3D val="0"/>
            <c:spPr>
              <a:solidFill>
                <a:srgbClr val="94A3B8"/>
              </a:solidFill>
              <a:effectLst/>
            </c:spPr>
          </c:dPt>
          <c:cat>
            <c:multiLvlStrRef>
              <c:f>Sheet1!$A$2:$A$6</c:f>
              <c:multiLvlStrCache>
                <c:ptCount val="5"/>
                <c:lvl>
                  <c:pt idx="0">
                    <c:v>Productivity</c:v>
                  </c:pt>
                  <c:pt idx="1">
                    <c:v>Accuracy</c:v>
                  </c:pt>
                  <c:pt idx="2">
                    <c:v>Time saved</c:v>
                  </c:pt>
                  <c:pt idx="3">
                    <c:v>AI spending</c:v>
                  </c:pt>
                  <c:pt idx="4">
                    <c:v>Usage volume</c:v>
                  </c:pt>
                </c:lvl>
              </c:multiLvlStrCache>
            </c:multiLvlStrRef>
          </c:cat>
          <c:val>
            <c:numRef>
              <c:f>Sheet1!$B$2:$B$6</c:f>
              <c:numCache>
                <c:formatCode>General</c:formatCode>
                <c:ptCount val="5"/>
                <c:pt idx="0">
                  <c:v>0.34</c:v>
                </c:pt>
                <c:pt idx="1">
                  <c:v>0.26</c:v>
                </c:pt>
                <c:pt idx="2">
                  <c:v>0.19</c:v>
                </c:pt>
                <c:pt idx="3">
                  <c:v>0.11</c:v>
                </c:pt>
                <c:pt idx="4">
                  <c:v>0.1</c:v>
                </c:pt>
              </c:numCache>
            </c:numRef>
          </c:val>
        </c:ser>
        <c:dLbls>
          <c:numFmt formatCode="0.00" sourceLinked="0"/>
          <c:txPr>
            <a:bodyPr/>
            <a:lstStyle/>
            <a:p>
              <a:pPr>
                <a:defRPr b="1" i="0" strike="noStrike" sz="1300" u="none">
                  <a:solidFill>
                    <a:srgbClr val="0F17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0.4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project analyses how 300 students and professionals use AI, what value they get from it, and which factors drive their satisfaction.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project: two questions. First, how widely is AI adopted and what for? Second, can we predict satisfaction from the other variables? The answers matter for anyone deciding where to invest in AI tools or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respondents is a modest sample, so findings are directional rather than definitive. The strength is breadth: 19 features, 8 use cases and several platforms in one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half and half. The key point is similarity: no evidence that one group is far ahead. Adoption is broad across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 is clearly the most used. Gemini, Copilot and Claude form a second tier, and everything else is niche. NOTE: chart values are illustrative placeholders; right-click the chart and choose Edit Data to enter your real counts, then delete the amber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Coding leads, then Writing and Studying. Office Work is the least common of the eight use cases, which is either a gap in tooling or a gap in awareness. NOTE: values are placeholders and only four of the eight use cases are charted; edit the chart data with your real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charts compare heavy AI users with everyone else. Heavy users report higher productivity and more time saved. Be careful to say this is an association, not proof that heavier use causes the gain. NOTE: bar values are illustrative placeholders; edit the chart data with your real group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Mann-Whitney U is a non-parametric test comparing two groups without assuming normally distributed data. Chi-square tests whether two categorical variables are associated. Add the exact p-values from your notebook if you want to quote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models were compared; Random Forest won. R-squared of 0.596 means it explains roughly 60% of the variance in satisfaction. MAE of 0.829 means predictions are on average about 0.83 points from the true score. Useful for segment-level decisions, less so for predicting any single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Productivity is the strongest driver, then accuracy, then time savings. Usage volume matters least: it is the value delivered that makes users satisfied. NOTE: importance values are illustrative placeholders; edit the chart data with your model's feature_importances_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main message: value delivered, not volume or spend, is what makes AI users satisfied. Each recommendation comes with a metric the organisation could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766560" cy="210312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3" name="Text 0"/>
          <p:cNvSpPr/>
          <p:nvPr>
            <p:ph idx="101" type="body" hasCustomPrompt="1"/>
          </p:nvPr>
        </p:nvSpPr>
        <p:spPr>
          <a:xfrm>
            <a:off x="731520" y="4069080"/>
            <a:ext cx="6400800" cy="10058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5-1.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6-1.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image" Target="../media/image-7-1.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rb violet"/>
          <p:cNvSpPr/>
          <p:nvPr/>
        </p:nvSpPr>
        <p:spPr>
          <a:xfrm>
            <a:off x="8229600" y="914400"/>
            <a:ext cx="3566160" cy="3566160"/>
          </a:xfrm>
          <a:prstGeom prst="ellipse">
            <a:avLst/>
          </a:prstGeom>
          <a:solidFill>
            <a:schemeClr val="accent1">
              <a:alpha val="90000"/>
            </a:schemeClr>
          </a:solidFill>
          <a:ln/>
        </p:spPr>
      </p:sp>
      <p:sp>
        <p:nvSpPr>
          <p:cNvPr id="3" name="Orb teal"/>
          <p:cNvSpPr/>
          <p:nvPr/>
        </p:nvSpPr>
        <p:spPr>
          <a:xfrm>
            <a:off x="7498080" y="3566160"/>
            <a:ext cx="2377440" cy="2377440"/>
          </a:xfrm>
          <a:prstGeom prst="ellipse">
            <a:avLst/>
          </a:prstGeom>
          <a:solidFill>
            <a:schemeClr val="accent2">
              <a:alpha val="75000"/>
            </a:schemeClr>
          </a:solidFill>
          <a:ln/>
        </p:spPr>
      </p:sp>
      <p:sp>
        <p:nvSpPr>
          <p:cNvPr id="4" name="Orb amber"/>
          <p:cNvSpPr/>
          <p:nvPr/>
        </p:nvSpPr>
        <p:spPr>
          <a:xfrm>
            <a:off x="10515600" y="4480560"/>
            <a:ext cx="1188720" cy="1188720"/>
          </a:xfrm>
          <a:prstGeom prst="ellipse">
            <a:avLst/>
          </a:prstGeom>
          <a:solidFill>
            <a:schemeClr val="accent3">
              <a:alpha val="85000"/>
            </a:schemeClr>
          </a:solidFill>
          <a:ln/>
        </p:spPr>
      </p:sp>
      <p:pic>
        <p:nvPicPr>
          <p:cNvPr id="5" name="Image 0" descr="AI robot icon">    </p:cNvPr>
          <p:cNvPicPr>
            <a:picLocks noChangeAspect="1"/>
          </p:cNvPicPr>
          <p:nvPr/>
        </p:nvPicPr>
        <p:blipFill>
          <a:blip r:embed="rId1"/>
          <a:stretch>
            <a:fillRect/>
          </a:stretch>
        </p:blipFill>
        <p:spPr>
          <a:xfrm>
            <a:off x="9281160" y="1965960"/>
            <a:ext cx="1463040" cy="1463040"/>
          </a:xfrm>
          <a:prstGeom prst="rect">
            <a:avLst/>
          </a:prstGeom>
        </p:spPr>
      </p:pic>
      <p:sp>
        <p:nvSpPr>
          <p:cNvPr id="6" name="Text 3"/>
          <p:cNvSpPr txBox="1"/>
          <p:nvPr/>
        </p:nvSpPr>
        <p:spPr>
          <a:xfrm>
            <a:off x="731520" y="1188720"/>
            <a:ext cx="6400800" cy="320040"/>
          </a:xfrm>
          <a:prstGeom prst="rect">
            <a:avLst/>
          </a:prstGeom>
          <a:noFill/>
          <a:ln/>
        </p:spPr>
        <p:txBody>
          <a:bodyPr wrap="square" lIns="0" tIns="0" rIns="0" bIns="0" rtlCol="0" anchor="ctr"/>
          <a:lstStyle/>
          <a:p>
            <a:pPr indent="0" marL="0">
              <a:buNone/>
            </a:pPr>
            <a:r>
              <a:rPr lang="en-US" sz="1300" b="1" spc="400" kern="0" dirty="0">
                <a:solidFill>
                  <a:schemeClr val="accent2"/>
                </a:solidFill>
              </a:rPr>
              <a:t>PYTHON DATA ANALYSIS PROJECT</a:t>
            </a:r>
            <a:endParaRPr lang="en-US" sz="1300" dirty="0"/>
          </a:p>
        </p:txBody>
      </p:sp>
      <p:sp>
        <p:nvSpPr>
          <p:cNvPr id="7" name="Text 0"/>
          <p:cNvSpPr/>
          <p:nvPr>
            <p:ph idx="100" type="title" hasCustomPrompt="1"/>
          </p:nvPr>
        </p:nvSpPr>
        <p:spPr>
          <a:xfrm>
            <a:off x="731520" y="1737360"/>
            <a:ext cx="6766560" cy="2103120"/>
          </a:xfrm>
          <a:prstGeom prst="rect">
            <a:avLst/>
          </a:prstGeom>
          <a:noFill/>
          <a:ln/>
        </p:spPr>
        <p:txBody>
          <a:bodyPr wrap="square" lIns="0" tIns="0" rIns="0" bIns="0" rtlCol="0" anchor="b"/>
          <a:lstStyle/>
          <a:p>
            <a:pPr algn="l" indent="0" marL="0">
              <a:buNone/>
            </a:pPr>
            <a:r>
              <a:rPr lang="en-US" sz="5000" b="1" dirty="0">
                <a:solidFill>
                  <a:schemeClr val="bg1"/>
                </a:solidFill>
              </a:rPr>
              <a:t>AI Usage and Impact Analysis</a:t>
            </a:r>
            <a:endParaRPr lang="en-US" sz="5000" dirty="0"/>
          </a:p>
        </p:txBody>
      </p:sp>
      <p:sp>
        <p:nvSpPr>
          <p:cNvPr id="8" name="Text 0"/>
          <p:cNvSpPr/>
          <p:nvPr>
            <p:ph idx="101" type="body" hasCustomPrompt="1"/>
          </p:nvPr>
        </p:nvSpPr>
        <p:spPr>
          <a:xfrm>
            <a:off x="731520" y="4069080"/>
            <a:ext cx="6400800" cy="1005840"/>
          </a:xfrm>
          <a:prstGeom prst="rect">
            <a:avLst/>
          </a:prstGeom>
          <a:noFill/>
          <a:ln/>
        </p:spPr>
        <p:txBody>
          <a:bodyPr wrap="square" lIns="0" tIns="0" rIns="0" bIns="0" rtlCol="0" anchor="t"/>
          <a:lstStyle/>
          <a:p>
            <a:pPr algn="l" indent="0" marL="0">
              <a:buNone/>
            </a:pPr>
            <a:r>
              <a:rPr lang="en-US" sz="2000" dirty="0">
                <a:solidFill>
                  <a:schemeClr val="bg2"/>
                </a:solidFill>
              </a:rPr>
              <a:t>Understanding how AI influences productivity, satisfaction, and time savings</a:t>
            </a:r>
            <a:endParaRPr lang="en-US" sz="2000" dirty="0"/>
          </a:p>
        </p:txBody>
      </p:sp>
      <p:sp>
        <p:nvSpPr>
          <p:cNvPr id="9" name="Text 6"/>
          <p:cNvSpPr txBox="1"/>
          <p:nvPr/>
        </p:nvSpPr>
        <p:spPr>
          <a:xfrm>
            <a:off x="731520" y="5989320"/>
            <a:ext cx="6400800" cy="320040"/>
          </a:xfrm>
          <a:prstGeom prst="rect">
            <a:avLst/>
          </a:prstGeom>
          <a:noFill/>
          <a:ln/>
        </p:spPr>
        <p:txBody>
          <a:bodyPr wrap="square" lIns="0" tIns="0" rIns="0" bIns="0" rtlCol="0" anchor="ctr"/>
          <a:lstStyle/>
          <a:p>
            <a:pPr indent="0" marL="0">
              <a:buNone/>
            </a:pPr>
            <a:r>
              <a:rPr lang="en-US" sz="1400" dirty="0">
                <a:solidFill>
                  <a:schemeClr val="accent5"/>
                </a:solidFill>
              </a:rPr>
              <a:t>300 respondents  ·  Students &amp; Professionals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PROJECT OVERVIEW</a:t>
            </a:r>
            <a:endParaRPr lang="en-US" sz="1100" dirty="0"/>
          </a:p>
        </p:txBody>
      </p:sp>
      <p:sp>
        <p:nvSpPr>
          <p:cNvPr id="3" name="Text 0"/>
          <p:cNvSpPr/>
          <p:nvPr>
            <p:ph idx="100" type="title" hasCustomPrompt="1"/>
          </p:nvPr>
        </p:nvSpPr>
        <p:spPr>
          <a:xfrm>
            <a:off x="548640" y="566928"/>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Project Overview</a:t>
            </a:r>
            <a:endParaRPr lang="en-US" sz="3600" dirty="0"/>
          </a:p>
        </p:txBody>
      </p:sp>
      <p:sp>
        <p:nvSpPr>
          <p:cNvPr id="4" name="Objective panel"/>
          <p:cNvSpPr/>
          <p:nvPr/>
        </p:nvSpPr>
        <p:spPr>
          <a:xfrm>
            <a:off x="548640" y="1600200"/>
            <a:ext cx="4297680" cy="3611880"/>
          </a:xfrm>
          <a:prstGeom prst="roundRect">
            <a:avLst>
              <a:gd name="adj" fmla="val 3797"/>
            </a:avLst>
          </a:prstGeom>
          <a:solidFill>
            <a:schemeClr val="tx1"/>
          </a:solidFill>
          <a:ln/>
        </p:spPr>
      </p:sp>
      <p:sp>
        <p:nvSpPr>
          <p:cNvPr id="5" name="Text 3"/>
          <p:cNvSpPr txBox="1"/>
          <p:nvPr/>
        </p:nvSpPr>
        <p:spPr>
          <a:xfrm>
            <a:off x="868680" y="1874520"/>
            <a:ext cx="3657600"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OBJECTIVE</a:t>
            </a:r>
            <a:endParaRPr lang="en-US" sz="1200" dirty="0"/>
          </a:p>
        </p:txBody>
      </p:sp>
      <p:sp>
        <p:nvSpPr>
          <p:cNvPr id="6" name="Text 4"/>
          <p:cNvSpPr txBox="1"/>
          <p:nvPr/>
        </p:nvSpPr>
        <p:spPr>
          <a:xfrm>
            <a:off x="868680" y="2286000"/>
            <a:ext cx="3657600" cy="2011680"/>
          </a:xfrm>
          <a:prstGeom prst="rect">
            <a:avLst/>
          </a:prstGeom>
          <a:noFill/>
          <a:ln/>
        </p:spPr>
        <p:txBody>
          <a:bodyPr wrap="square" lIns="0" tIns="0" rIns="0" bIns="0" rtlCol="0" anchor="t"/>
          <a:lstStyle/>
          <a:p>
            <a:pPr indent="0" marL="0">
              <a:buNone/>
            </a:pPr>
            <a:r>
              <a:rPr lang="en-US" sz="2600" b="1" dirty="0">
                <a:solidFill>
                  <a:schemeClr val="bg1"/>
                </a:solidFill>
              </a:rPr>
              <a:t>Understand how people adopt AI, then predict how satisfied they will be.</a:t>
            </a:r>
            <a:endParaRPr lang="en-US" sz="2600" dirty="0"/>
          </a:p>
        </p:txBody>
      </p:sp>
      <p:sp>
        <p:nvSpPr>
          <p:cNvPr id="7" name="Text 5"/>
          <p:cNvSpPr txBox="1"/>
          <p:nvPr/>
        </p:nvSpPr>
        <p:spPr>
          <a:xfrm>
            <a:off x="868680" y="4526280"/>
            <a:ext cx="3657600" cy="365760"/>
          </a:xfrm>
          <a:prstGeom prst="rect">
            <a:avLst/>
          </a:prstGeom>
          <a:noFill/>
          <a:ln/>
        </p:spPr>
        <p:txBody>
          <a:bodyPr wrap="square" lIns="0" tIns="0" rIns="0" bIns="0" rtlCol="0" anchor="ctr"/>
          <a:lstStyle/>
          <a:p>
            <a:pPr indent="0" marL="0">
              <a:buNone/>
            </a:pPr>
            <a:r>
              <a:rPr lang="en-US" sz="1400" dirty="0">
                <a:solidFill>
                  <a:schemeClr val="accent5"/>
                </a:solidFill>
              </a:rPr>
              <a:t>Adoption  →  Impact  →  Satisfaction</a:t>
            </a:r>
            <a:endParaRPr lang="en-US" sz="1400" dirty="0"/>
          </a:p>
        </p:txBody>
      </p:sp>
      <p:sp>
        <p:nvSpPr>
          <p:cNvPr id="8" name="Overview card"/>
          <p:cNvSpPr/>
          <p:nvPr/>
        </p:nvSpPr>
        <p:spPr>
          <a:xfrm>
            <a:off x="5166360" y="1600200"/>
            <a:ext cx="3154680" cy="1691640"/>
          </a:xfrm>
          <a:prstGeom prst="roundRect">
            <a:avLst>
              <a:gd name="adj" fmla="val 6486"/>
            </a:avLst>
          </a:prstGeom>
          <a:solidFill>
            <a:schemeClr val="bg2"/>
          </a:solidFill>
          <a:ln/>
        </p:spPr>
      </p:sp>
      <p:sp>
        <p:nvSpPr>
          <p:cNvPr id="9" name="Icon circle"/>
          <p:cNvSpPr/>
          <p:nvPr/>
        </p:nvSpPr>
        <p:spPr>
          <a:xfrm>
            <a:off x="5349240" y="1783080"/>
            <a:ext cx="502920" cy="502920"/>
          </a:xfrm>
          <a:prstGeom prst="ellipse">
            <a:avLst/>
          </a:prstGeom>
          <a:solidFill>
            <a:schemeClr val="accent1"/>
          </a:solidFill>
          <a:ln/>
        </p:spPr>
      </p:sp>
      <p:pic>
        <p:nvPicPr>
          <p:cNvPr id="10" name="Image 0" descr="icon">    </p:cNvPr>
          <p:cNvPicPr>
            <a:picLocks noChangeAspect="1"/>
          </p:cNvPicPr>
          <p:nvPr/>
        </p:nvPicPr>
        <p:blipFill>
          <a:blip r:embed="rId1"/>
          <a:stretch>
            <a:fillRect/>
          </a:stretch>
        </p:blipFill>
        <p:spPr>
          <a:xfrm>
            <a:off x="5474970" y="1908810"/>
            <a:ext cx="251460" cy="251460"/>
          </a:xfrm>
          <a:prstGeom prst="rect">
            <a:avLst/>
          </a:prstGeom>
        </p:spPr>
      </p:pic>
      <p:sp>
        <p:nvSpPr>
          <p:cNvPr id="11" name="Text 8"/>
          <p:cNvSpPr txBox="1"/>
          <p:nvPr/>
        </p:nvSpPr>
        <p:spPr>
          <a:xfrm>
            <a:off x="5989320" y="1783080"/>
            <a:ext cx="2194560" cy="502920"/>
          </a:xfrm>
          <a:prstGeom prst="rect">
            <a:avLst/>
          </a:prstGeom>
          <a:noFill/>
          <a:ln/>
        </p:spPr>
        <p:txBody>
          <a:bodyPr wrap="square" lIns="0" tIns="0" rIns="0" bIns="0" rtlCol="0" anchor="ctr"/>
          <a:lstStyle/>
          <a:p>
            <a:pPr indent="0" marL="0">
              <a:buNone/>
            </a:pPr>
            <a:r>
              <a:rPr lang="en-US" sz="1800" b="1" dirty="0">
                <a:solidFill>
                  <a:schemeClr val="tx1"/>
                </a:solidFill>
              </a:rPr>
              <a:t>300 respondents</a:t>
            </a:r>
            <a:endParaRPr lang="en-US" sz="1800" dirty="0"/>
          </a:p>
        </p:txBody>
      </p:sp>
      <p:sp>
        <p:nvSpPr>
          <p:cNvPr id="12" name="Text 9"/>
          <p:cNvSpPr txBox="1"/>
          <p:nvPr/>
        </p:nvSpPr>
        <p:spPr>
          <a:xfrm>
            <a:off x="5349240" y="2423160"/>
            <a:ext cx="2788920" cy="777240"/>
          </a:xfrm>
          <a:prstGeom prst="rect">
            <a:avLst/>
          </a:prstGeom>
          <a:noFill/>
          <a:ln/>
        </p:spPr>
        <p:txBody>
          <a:bodyPr wrap="square" lIns="0" tIns="0" rIns="0" bIns="0" rtlCol="0" anchor="t"/>
          <a:lstStyle/>
          <a:p>
            <a:pPr indent="0" marL="0">
              <a:buNone/>
            </a:pPr>
            <a:r>
              <a:rPr lang="en-US" sz="1400" dirty="0">
                <a:solidFill>
                  <a:schemeClr val="tx2"/>
                </a:solidFill>
              </a:rPr>
              <a:t>One survey dataset, cleaned and analysed in Python</a:t>
            </a:r>
            <a:endParaRPr lang="en-US" sz="1400" dirty="0"/>
          </a:p>
        </p:txBody>
      </p:sp>
      <p:sp>
        <p:nvSpPr>
          <p:cNvPr id="13" name="Overview card"/>
          <p:cNvSpPr/>
          <p:nvPr/>
        </p:nvSpPr>
        <p:spPr>
          <a:xfrm>
            <a:off x="8531352" y="1600200"/>
            <a:ext cx="3154680" cy="1691640"/>
          </a:xfrm>
          <a:prstGeom prst="roundRect">
            <a:avLst>
              <a:gd name="adj" fmla="val 6486"/>
            </a:avLst>
          </a:prstGeom>
          <a:solidFill>
            <a:schemeClr val="bg2"/>
          </a:solidFill>
          <a:ln/>
        </p:spPr>
      </p:sp>
      <p:sp>
        <p:nvSpPr>
          <p:cNvPr id="14" name="Icon circle"/>
          <p:cNvSpPr/>
          <p:nvPr/>
        </p:nvSpPr>
        <p:spPr>
          <a:xfrm>
            <a:off x="8714232" y="1783080"/>
            <a:ext cx="502920" cy="502920"/>
          </a:xfrm>
          <a:prstGeom prst="ellipse">
            <a:avLst/>
          </a:prstGeom>
          <a:solidFill>
            <a:schemeClr val="accent2"/>
          </a:solidFill>
          <a:ln/>
        </p:spPr>
      </p:sp>
      <p:pic>
        <p:nvPicPr>
          <p:cNvPr id="15" name="Image 1" descr="icon">    </p:cNvPr>
          <p:cNvPicPr>
            <a:picLocks noChangeAspect="1"/>
          </p:cNvPicPr>
          <p:nvPr/>
        </p:nvPicPr>
        <p:blipFill>
          <a:blip r:embed="rId2"/>
          <a:stretch>
            <a:fillRect/>
          </a:stretch>
        </p:blipFill>
        <p:spPr>
          <a:xfrm>
            <a:off x="8839962" y="1908810"/>
            <a:ext cx="251460" cy="251460"/>
          </a:xfrm>
          <a:prstGeom prst="rect">
            <a:avLst/>
          </a:prstGeom>
        </p:spPr>
      </p:pic>
      <p:sp>
        <p:nvSpPr>
          <p:cNvPr id="16" name="Text 12"/>
          <p:cNvSpPr txBox="1"/>
          <p:nvPr/>
        </p:nvSpPr>
        <p:spPr>
          <a:xfrm>
            <a:off x="9354312" y="1783080"/>
            <a:ext cx="2194560" cy="502920"/>
          </a:xfrm>
          <a:prstGeom prst="rect">
            <a:avLst/>
          </a:prstGeom>
          <a:noFill/>
          <a:ln/>
        </p:spPr>
        <p:txBody>
          <a:bodyPr wrap="square" lIns="0" tIns="0" rIns="0" bIns="0" rtlCol="0" anchor="ctr"/>
          <a:lstStyle/>
          <a:p>
            <a:pPr indent="0" marL="0">
              <a:buNone/>
            </a:pPr>
            <a:r>
              <a:rPr lang="en-US" sz="1800" b="1" dirty="0">
                <a:solidFill>
                  <a:schemeClr val="tx1"/>
                </a:solidFill>
              </a:rPr>
              <a:t>Two audiences</a:t>
            </a:r>
            <a:endParaRPr lang="en-US" sz="1800" dirty="0"/>
          </a:p>
        </p:txBody>
      </p:sp>
      <p:sp>
        <p:nvSpPr>
          <p:cNvPr id="17" name="Text 13"/>
          <p:cNvSpPr txBox="1"/>
          <p:nvPr/>
        </p:nvSpPr>
        <p:spPr>
          <a:xfrm>
            <a:off x="8714232" y="2423160"/>
            <a:ext cx="2788920" cy="777240"/>
          </a:xfrm>
          <a:prstGeom prst="rect">
            <a:avLst/>
          </a:prstGeom>
          <a:noFill/>
          <a:ln/>
        </p:spPr>
        <p:txBody>
          <a:bodyPr wrap="square" lIns="0" tIns="0" rIns="0" bIns="0" rtlCol="0" anchor="t"/>
          <a:lstStyle/>
          <a:p>
            <a:pPr indent="0" marL="0">
              <a:buNone/>
            </a:pPr>
            <a:r>
              <a:rPr lang="en-US" sz="1400" dirty="0">
                <a:solidFill>
                  <a:schemeClr val="tx2"/>
                </a:solidFill>
              </a:rPr>
              <a:t>Students and professionals, compared side by side</a:t>
            </a:r>
            <a:endParaRPr lang="en-US" sz="1400" dirty="0"/>
          </a:p>
        </p:txBody>
      </p:sp>
      <p:sp>
        <p:nvSpPr>
          <p:cNvPr id="18" name="Overview card"/>
          <p:cNvSpPr/>
          <p:nvPr/>
        </p:nvSpPr>
        <p:spPr>
          <a:xfrm>
            <a:off x="5166360" y="3520440"/>
            <a:ext cx="3154680" cy="1691640"/>
          </a:xfrm>
          <a:prstGeom prst="roundRect">
            <a:avLst>
              <a:gd name="adj" fmla="val 6486"/>
            </a:avLst>
          </a:prstGeom>
          <a:solidFill>
            <a:schemeClr val="bg2"/>
          </a:solidFill>
          <a:ln/>
        </p:spPr>
      </p:sp>
      <p:sp>
        <p:nvSpPr>
          <p:cNvPr id="19" name="Icon circle"/>
          <p:cNvSpPr/>
          <p:nvPr/>
        </p:nvSpPr>
        <p:spPr>
          <a:xfrm>
            <a:off x="5349240" y="3703320"/>
            <a:ext cx="502920" cy="502920"/>
          </a:xfrm>
          <a:prstGeom prst="ellipse">
            <a:avLst/>
          </a:prstGeom>
          <a:solidFill>
            <a:schemeClr val="accent4"/>
          </a:solidFill>
          <a:ln/>
        </p:spPr>
      </p:sp>
      <p:pic>
        <p:nvPicPr>
          <p:cNvPr id="20" name="Image 2" descr="icon">    </p:cNvPr>
          <p:cNvPicPr>
            <a:picLocks noChangeAspect="1"/>
          </p:cNvPicPr>
          <p:nvPr/>
        </p:nvPicPr>
        <p:blipFill>
          <a:blip r:embed="rId3"/>
          <a:stretch>
            <a:fillRect/>
          </a:stretch>
        </p:blipFill>
        <p:spPr>
          <a:xfrm>
            <a:off x="5474970" y="3829050"/>
            <a:ext cx="251460" cy="251460"/>
          </a:xfrm>
          <a:prstGeom prst="rect">
            <a:avLst/>
          </a:prstGeom>
        </p:spPr>
      </p:pic>
      <p:sp>
        <p:nvSpPr>
          <p:cNvPr id="21" name="Text 16"/>
          <p:cNvSpPr txBox="1"/>
          <p:nvPr/>
        </p:nvSpPr>
        <p:spPr>
          <a:xfrm>
            <a:off x="5989320" y="3703320"/>
            <a:ext cx="2194560" cy="502920"/>
          </a:xfrm>
          <a:prstGeom prst="rect">
            <a:avLst/>
          </a:prstGeom>
          <a:noFill/>
          <a:ln/>
        </p:spPr>
        <p:txBody>
          <a:bodyPr wrap="square" lIns="0" tIns="0" rIns="0" bIns="0" rtlCol="0" anchor="ctr"/>
          <a:lstStyle/>
          <a:p>
            <a:pPr indent="0" marL="0">
              <a:buNone/>
            </a:pPr>
            <a:r>
              <a:rPr lang="en-US" sz="1800" b="1" dirty="0">
                <a:solidFill>
                  <a:schemeClr val="tx1"/>
                </a:solidFill>
              </a:rPr>
              <a:t>What we measured</a:t>
            </a:r>
            <a:endParaRPr lang="en-US" sz="1800" dirty="0"/>
          </a:p>
        </p:txBody>
      </p:sp>
      <p:sp>
        <p:nvSpPr>
          <p:cNvPr id="22" name="Text 17"/>
          <p:cNvSpPr txBox="1"/>
          <p:nvPr/>
        </p:nvSpPr>
        <p:spPr>
          <a:xfrm>
            <a:off x="5349240" y="4343400"/>
            <a:ext cx="2788920" cy="777240"/>
          </a:xfrm>
          <a:prstGeom prst="rect">
            <a:avLst/>
          </a:prstGeom>
          <a:noFill/>
          <a:ln/>
        </p:spPr>
        <p:txBody>
          <a:bodyPr wrap="square" lIns="0" tIns="0" rIns="0" bIns="0" rtlCol="0" anchor="t"/>
          <a:lstStyle/>
          <a:p>
            <a:pPr indent="0" marL="0">
              <a:buNone/>
            </a:pPr>
            <a:r>
              <a:rPr lang="en-US" sz="1400" dirty="0">
                <a:solidFill>
                  <a:schemeClr val="tx2"/>
                </a:solidFill>
              </a:rPr>
              <a:t>AI tools, productivity, satisfaction, spending and time savings</a:t>
            </a:r>
            <a:endParaRPr lang="en-US" sz="1400" dirty="0"/>
          </a:p>
        </p:txBody>
      </p:sp>
      <p:sp>
        <p:nvSpPr>
          <p:cNvPr id="23" name="Overview card"/>
          <p:cNvSpPr/>
          <p:nvPr/>
        </p:nvSpPr>
        <p:spPr>
          <a:xfrm>
            <a:off x="8531352" y="3520440"/>
            <a:ext cx="3154680" cy="1691640"/>
          </a:xfrm>
          <a:prstGeom prst="roundRect">
            <a:avLst>
              <a:gd name="adj" fmla="val 6486"/>
            </a:avLst>
          </a:prstGeom>
          <a:solidFill>
            <a:schemeClr val="bg2"/>
          </a:solidFill>
          <a:ln/>
        </p:spPr>
      </p:sp>
      <p:sp>
        <p:nvSpPr>
          <p:cNvPr id="24" name="Icon circle"/>
          <p:cNvSpPr/>
          <p:nvPr/>
        </p:nvSpPr>
        <p:spPr>
          <a:xfrm>
            <a:off x="8714232" y="3703320"/>
            <a:ext cx="502920" cy="502920"/>
          </a:xfrm>
          <a:prstGeom prst="ellipse">
            <a:avLst/>
          </a:prstGeom>
          <a:solidFill>
            <a:schemeClr val="accent6"/>
          </a:solidFill>
          <a:ln/>
        </p:spPr>
      </p:sp>
      <p:pic>
        <p:nvPicPr>
          <p:cNvPr id="25" name="Image 3" descr="icon">    </p:cNvPr>
          <p:cNvPicPr>
            <a:picLocks noChangeAspect="1"/>
          </p:cNvPicPr>
          <p:nvPr/>
        </p:nvPicPr>
        <p:blipFill>
          <a:blip r:embed="rId4"/>
          <a:stretch>
            <a:fillRect/>
          </a:stretch>
        </p:blipFill>
        <p:spPr>
          <a:xfrm>
            <a:off x="8839962" y="3829050"/>
            <a:ext cx="251460" cy="251460"/>
          </a:xfrm>
          <a:prstGeom prst="rect">
            <a:avLst/>
          </a:prstGeom>
        </p:spPr>
      </p:pic>
      <p:sp>
        <p:nvSpPr>
          <p:cNvPr id="26" name="Text 20"/>
          <p:cNvSpPr txBox="1"/>
          <p:nvPr/>
        </p:nvSpPr>
        <p:spPr>
          <a:xfrm>
            <a:off x="9354312" y="3703320"/>
            <a:ext cx="2194560" cy="502920"/>
          </a:xfrm>
          <a:prstGeom prst="rect">
            <a:avLst/>
          </a:prstGeom>
          <a:noFill/>
          <a:ln/>
        </p:spPr>
        <p:txBody>
          <a:bodyPr wrap="square" lIns="0" tIns="0" rIns="0" bIns="0" rtlCol="0" anchor="ctr"/>
          <a:lstStyle/>
          <a:p>
            <a:pPr indent="0" marL="0">
              <a:buNone/>
            </a:pPr>
            <a:r>
              <a:rPr lang="en-US" sz="1800" b="1" dirty="0">
                <a:solidFill>
                  <a:schemeClr val="tx1"/>
                </a:solidFill>
              </a:rPr>
              <a:t>Two goals</a:t>
            </a:r>
            <a:endParaRPr lang="en-US" sz="1800" dirty="0"/>
          </a:p>
        </p:txBody>
      </p:sp>
      <p:sp>
        <p:nvSpPr>
          <p:cNvPr id="27" name="Text 21"/>
          <p:cNvSpPr txBox="1"/>
          <p:nvPr/>
        </p:nvSpPr>
        <p:spPr>
          <a:xfrm>
            <a:off x="8714232" y="4343400"/>
            <a:ext cx="2788920" cy="777240"/>
          </a:xfrm>
          <a:prstGeom prst="rect">
            <a:avLst/>
          </a:prstGeom>
          <a:noFill/>
          <a:ln/>
        </p:spPr>
        <p:txBody>
          <a:bodyPr wrap="square" lIns="0" tIns="0" rIns="0" bIns="0" rtlCol="0" anchor="t"/>
          <a:lstStyle/>
          <a:p>
            <a:pPr indent="0" marL="0">
              <a:buNone/>
            </a:pPr>
            <a:r>
              <a:rPr lang="en-US" sz="1400" dirty="0">
                <a:solidFill>
                  <a:schemeClr val="tx2"/>
                </a:solidFill>
              </a:rPr>
              <a:t>Understand AI adoption and predict user satisfaction</a:t>
            </a:r>
            <a:endParaRPr lang="en-US" sz="1400" dirty="0"/>
          </a:p>
        </p:txBody>
      </p:sp>
      <p:sp>
        <p:nvSpPr>
          <p:cNvPr id="28" name="Insight card"/>
          <p:cNvSpPr/>
          <p:nvPr/>
        </p:nvSpPr>
        <p:spPr>
          <a:xfrm>
            <a:off x="548640" y="5440680"/>
            <a:ext cx="11091672" cy="914400"/>
          </a:xfrm>
          <a:prstGeom prst="roundRect">
            <a:avLst>
              <a:gd name="adj" fmla="val 12000"/>
            </a:avLst>
          </a:prstGeom>
          <a:solidFill>
            <a:schemeClr val="bg2"/>
          </a:solidFill>
          <a:ln/>
        </p:spPr>
      </p:sp>
      <p:sp>
        <p:nvSpPr>
          <p:cNvPr id="29" name="Icon circle"/>
          <p:cNvSpPr/>
          <p:nvPr/>
        </p:nvSpPr>
        <p:spPr>
          <a:xfrm>
            <a:off x="777240" y="5623560"/>
            <a:ext cx="548640" cy="548640"/>
          </a:xfrm>
          <a:prstGeom prst="ellipse">
            <a:avLst/>
          </a:prstGeom>
          <a:solidFill>
            <a:schemeClr val="accent3"/>
          </a:solidFill>
          <a:ln/>
        </p:spPr>
      </p:sp>
      <p:pic>
        <p:nvPicPr>
          <p:cNvPr id="30" name="Image 4" descr="icon">    </p:cNvPr>
          <p:cNvPicPr>
            <a:picLocks noChangeAspect="1"/>
          </p:cNvPicPr>
          <p:nvPr/>
        </p:nvPicPr>
        <p:blipFill>
          <a:blip r:embed="rId5"/>
          <a:stretch>
            <a:fillRect/>
          </a:stretch>
        </p:blipFill>
        <p:spPr>
          <a:xfrm>
            <a:off x="914400" y="5760720"/>
            <a:ext cx="274320" cy="274320"/>
          </a:xfrm>
          <a:prstGeom prst="rect">
            <a:avLst/>
          </a:prstGeom>
        </p:spPr>
      </p:pic>
      <p:sp>
        <p:nvSpPr>
          <p:cNvPr id="31" name="Text 24"/>
          <p:cNvSpPr txBox="1"/>
          <p:nvPr/>
        </p:nvSpPr>
        <p:spPr>
          <a:xfrm>
            <a:off x="1554480" y="5550408"/>
            <a:ext cx="45720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BUSINESS INSIGHT</a:t>
            </a:r>
            <a:endParaRPr lang="en-US" sz="1100" dirty="0"/>
          </a:p>
        </p:txBody>
      </p:sp>
      <p:sp>
        <p:nvSpPr>
          <p:cNvPr id="32" name="Insight text"/>
          <p:cNvSpPr txBox="1"/>
          <p:nvPr/>
        </p:nvSpPr>
        <p:spPr>
          <a:xfrm>
            <a:off x="1554480" y="5779008"/>
            <a:ext cx="9875520" cy="502920"/>
          </a:xfrm>
          <a:prstGeom prst="rect">
            <a:avLst/>
          </a:prstGeom>
          <a:noFill/>
          <a:ln/>
        </p:spPr>
        <p:txBody>
          <a:bodyPr wrap="square" lIns="0" tIns="0" rIns="0" bIns="0" rtlCol="0" anchor="t"/>
          <a:lstStyle/>
          <a:p>
            <a:pPr indent="0" marL="0">
              <a:buNone/>
            </a:pPr>
            <a:r>
              <a:rPr lang="en-US" sz="1400" dirty="0">
                <a:solidFill>
                  <a:schemeClr val="tx1"/>
                </a:solidFill>
              </a:rPr>
              <a:t>Knowing who adopts AI, for what, and with what payoff turns raw usage data into decisions on tooling, training, and budget.</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DATASET PROFILE</a:t>
            </a:r>
            <a:endParaRPr lang="en-US" sz="1100" dirty="0"/>
          </a:p>
        </p:txBody>
      </p:sp>
      <p:sp>
        <p:nvSpPr>
          <p:cNvPr id="3" name="Text 0"/>
          <p:cNvSpPr/>
          <p:nvPr>
            <p:ph idx="100" type="title" hasCustomPrompt="1"/>
          </p:nvPr>
        </p:nvSpPr>
        <p:spPr>
          <a:xfrm>
            <a:off x="548640" y="566928"/>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Dataset Profile</a:t>
            </a:r>
            <a:endParaRPr lang="en-US" sz="3600" dirty="0"/>
          </a:p>
        </p:txBody>
      </p:sp>
      <p:sp>
        <p:nvSpPr>
          <p:cNvPr id="4" name="KPI card"/>
          <p:cNvSpPr/>
          <p:nvPr/>
        </p:nvSpPr>
        <p:spPr>
          <a:xfrm>
            <a:off x="548640" y="1600200"/>
            <a:ext cx="2560320" cy="2514600"/>
          </a:xfrm>
          <a:prstGeom prst="roundRect">
            <a:avLst>
              <a:gd name="adj" fmla="val 4364"/>
            </a:avLst>
          </a:prstGeom>
          <a:solidFill>
            <a:schemeClr val="bg1"/>
          </a:solidFill>
          <a:ln/>
          <a:effectLst>
            <a:outerShdw sx="100000" sy="100000" kx="0" ky="0" algn="bl" rotWithShape="0" blurRad="101600" dist="25400" dir="5400000">
              <a:srgbClr val="94A3B8">
                <a:alpha val="25000"/>
              </a:srgbClr>
            </a:outerShdw>
          </a:effectLst>
        </p:spPr>
      </p:sp>
      <p:sp>
        <p:nvSpPr>
          <p:cNvPr id="5" name="Icon circle"/>
          <p:cNvSpPr/>
          <p:nvPr/>
        </p:nvSpPr>
        <p:spPr>
          <a:xfrm>
            <a:off x="777240" y="1810512"/>
            <a:ext cx="548640" cy="548640"/>
          </a:xfrm>
          <a:prstGeom prst="ellipse">
            <a:avLst/>
          </a:prstGeom>
          <a:solidFill>
            <a:schemeClr val="accent1"/>
          </a:solidFill>
          <a:ln/>
        </p:spPr>
      </p:sp>
      <p:pic>
        <p:nvPicPr>
          <p:cNvPr id="6" name="Image 0" descr="icon">    </p:cNvPr>
          <p:cNvPicPr>
            <a:picLocks noChangeAspect="1"/>
          </p:cNvPicPr>
          <p:nvPr/>
        </p:nvPicPr>
        <p:blipFill>
          <a:blip r:embed="rId1"/>
          <a:stretch>
            <a:fillRect/>
          </a:stretch>
        </p:blipFill>
        <p:spPr>
          <a:xfrm>
            <a:off x="914400" y="1947672"/>
            <a:ext cx="274320" cy="274320"/>
          </a:xfrm>
          <a:prstGeom prst="rect">
            <a:avLst/>
          </a:prstGeom>
        </p:spPr>
      </p:pic>
      <p:sp>
        <p:nvSpPr>
          <p:cNvPr id="7" name="KPI value"/>
          <p:cNvSpPr txBox="1"/>
          <p:nvPr/>
        </p:nvSpPr>
        <p:spPr>
          <a:xfrm>
            <a:off x="777240" y="2423160"/>
            <a:ext cx="2103120" cy="914400"/>
          </a:xfrm>
          <a:prstGeom prst="rect">
            <a:avLst/>
          </a:prstGeom>
          <a:noFill/>
          <a:ln/>
        </p:spPr>
        <p:txBody>
          <a:bodyPr wrap="square" lIns="0" tIns="0" rIns="0" bIns="0" rtlCol="0" anchor="ctr"/>
          <a:lstStyle/>
          <a:p>
            <a:pPr indent="0" marL="0">
              <a:buNone/>
            </a:pPr>
            <a:r>
              <a:rPr lang="en-US" sz="6000" b="1" dirty="0">
                <a:solidFill>
                  <a:schemeClr val="tx1"/>
                </a:solidFill>
              </a:rPr>
              <a:t>300</a:t>
            </a:r>
            <a:endParaRPr lang="en-US" sz="6000" dirty="0"/>
          </a:p>
        </p:txBody>
      </p:sp>
      <p:sp>
        <p:nvSpPr>
          <p:cNvPr id="8" name="Text 5"/>
          <p:cNvSpPr txBox="1"/>
          <p:nvPr/>
        </p:nvSpPr>
        <p:spPr>
          <a:xfrm>
            <a:off x="777240" y="3383280"/>
            <a:ext cx="2103120" cy="457200"/>
          </a:xfrm>
          <a:prstGeom prst="rect">
            <a:avLst/>
          </a:prstGeom>
          <a:noFill/>
          <a:ln/>
        </p:spPr>
        <p:txBody>
          <a:bodyPr wrap="square" lIns="0" tIns="0" rIns="0" bIns="0" rtlCol="0" anchor="t"/>
          <a:lstStyle/>
          <a:p>
            <a:pPr indent="0" marL="0">
              <a:buNone/>
            </a:pPr>
            <a:r>
              <a:rPr lang="en-US" sz="1600" dirty="0">
                <a:solidFill>
                  <a:schemeClr val="tx2"/>
                </a:solidFill>
              </a:rPr>
              <a:t>respondents</a:t>
            </a:r>
            <a:endParaRPr lang="en-US" sz="1600" dirty="0"/>
          </a:p>
        </p:txBody>
      </p:sp>
      <p:sp>
        <p:nvSpPr>
          <p:cNvPr id="9" name="KPI card"/>
          <p:cNvSpPr/>
          <p:nvPr/>
        </p:nvSpPr>
        <p:spPr>
          <a:xfrm>
            <a:off x="3392424" y="1600200"/>
            <a:ext cx="2560320" cy="2514600"/>
          </a:xfrm>
          <a:prstGeom prst="roundRect">
            <a:avLst>
              <a:gd name="adj" fmla="val 4364"/>
            </a:avLst>
          </a:prstGeom>
          <a:solidFill>
            <a:schemeClr val="bg1"/>
          </a:solidFill>
          <a:ln/>
          <a:effectLst>
            <a:outerShdw sx="100000" sy="100000" kx="0" ky="0" algn="bl" rotWithShape="0" blurRad="101600" dist="25400" dir="5400000">
              <a:srgbClr val="94A3B8">
                <a:alpha val="25000"/>
              </a:srgbClr>
            </a:outerShdw>
          </a:effectLst>
        </p:spPr>
      </p:sp>
      <p:sp>
        <p:nvSpPr>
          <p:cNvPr id="10" name="Icon circle"/>
          <p:cNvSpPr/>
          <p:nvPr/>
        </p:nvSpPr>
        <p:spPr>
          <a:xfrm>
            <a:off x="3621024" y="1810512"/>
            <a:ext cx="548640" cy="548640"/>
          </a:xfrm>
          <a:prstGeom prst="ellipse">
            <a:avLst/>
          </a:prstGeom>
          <a:solidFill>
            <a:schemeClr val="accent2"/>
          </a:solidFill>
          <a:ln/>
        </p:spPr>
      </p:sp>
      <p:pic>
        <p:nvPicPr>
          <p:cNvPr id="11" name="Image 1" descr="icon">    </p:cNvPr>
          <p:cNvPicPr>
            <a:picLocks noChangeAspect="1"/>
          </p:cNvPicPr>
          <p:nvPr/>
        </p:nvPicPr>
        <p:blipFill>
          <a:blip r:embed="rId2"/>
          <a:stretch>
            <a:fillRect/>
          </a:stretch>
        </p:blipFill>
        <p:spPr>
          <a:xfrm>
            <a:off x="3758184" y="1947672"/>
            <a:ext cx="274320" cy="274320"/>
          </a:xfrm>
          <a:prstGeom prst="rect">
            <a:avLst/>
          </a:prstGeom>
        </p:spPr>
      </p:pic>
      <p:sp>
        <p:nvSpPr>
          <p:cNvPr id="12" name="KPI value"/>
          <p:cNvSpPr txBox="1"/>
          <p:nvPr/>
        </p:nvSpPr>
        <p:spPr>
          <a:xfrm>
            <a:off x="3621024" y="2423160"/>
            <a:ext cx="2103120" cy="914400"/>
          </a:xfrm>
          <a:prstGeom prst="rect">
            <a:avLst/>
          </a:prstGeom>
          <a:noFill/>
          <a:ln/>
        </p:spPr>
        <p:txBody>
          <a:bodyPr wrap="square" lIns="0" tIns="0" rIns="0" bIns="0" rtlCol="0" anchor="ctr"/>
          <a:lstStyle/>
          <a:p>
            <a:pPr indent="0" marL="0">
              <a:buNone/>
            </a:pPr>
            <a:r>
              <a:rPr lang="en-US" sz="6000" b="1" dirty="0">
                <a:solidFill>
                  <a:schemeClr val="tx1"/>
                </a:solidFill>
              </a:rPr>
              <a:t>19</a:t>
            </a:r>
            <a:endParaRPr lang="en-US" sz="6000" dirty="0"/>
          </a:p>
        </p:txBody>
      </p:sp>
      <p:sp>
        <p:nvSpPr>
          <p:cNvPr id="13" name="Text 9"/>
          <p:cNvSpPr txBox="1"/>
          <p:nvPr/>
        </p:nvSpPr>
        <p:spPr>
          <a:xfrm>
            <a:off x="3621024" y="3383280"/>
            <a:ext cx="2103120" cy="457200"/>
          </a:xfrm>
          <a:prstGeom prst="rect">
            <a:avLst/>
          </a:prstGeom>
          <a:noFill/>
          <a:ln/>
        </p:spPr>
        <p:txBody>
          <a:bodyPr wrap="square" lIns="0" tIns="0" rIns="0" bIns="0" rtlCol="0" anchor="t"/>
          <a:lstStyle/>
          <a:p>
            <a:pPr indent="0" marL="0">
              <a:buNone/>
            </a:pPr>
            <a:r>
              <a:rPr lang="en-US" sz="1600" dirty="0">
                <a:solidFill>
                  <a:schemeClr val="tx2"/>
                </a:solidFill>
              </a:rPr>
              <a:t>original features</a:t>
            </a:r>
            <a:endParaRPr lang="en-US" sz="1600" dirty="0"/>
          </a:p>
        </p:txBody>
      </p:sp>
      <p:sp>
        <p:nvSpPr>
          <p:cNvPr id="14" name="KPI card"/>
          <p:cNvSpPr/>
          <p:nvPr/>
        </p:nvSpPr>
        <p:spPr>
          <a:xfrm>
            <a:off x="6236208" y="1600200"/>
            <a:ext cx="2560320" cy="2514600"/>
          </a:xfrm>
          <a:prstGeom prst="roundRect">
            <a:avLst>
              <a:gd name="adj" fmla="val 4364"/>
            </a:avLst>
          </a:prstGeom>
          <a:solidFill>
            <a:schemeClr val="bg1"/>
          </a:solidFill>
          <a:ln/>
          <a:effectLst>
            <a:outerShdw sx="100000" sy="100000" kx="0" ky="0" algn="bl" rotWithShape="0" blurRad="101600" dist="25400" dir="5400000">
              <a:srgbClr val="94A3B8">
                <a:alpha val="25000"/>
              </a:srgbClr>
            </a:outerShdw>
          </a:effectLst>
        </p:spPr>
      </p:sp>
      <p:sp>
        <p:nvSpPr>
          <p:cNvPr id="15" name="Icon circle"/>
          <p:cNvSpPr/>
          <p:nvPr/>
        </p:nvSpPr>
        <p:spPr>
          <a:xfrm>
            <a:off x="6464808" y="1810512"/>
            <a:ext cx="548640" cy="548640"/>
          </a:xfrm>
          <a:prstGeom prst="ellipse">
            <a:avLst/>
          </a:prstGeom>
          <a:solidFill>
            <a:schemeClr val="accent4"/>
          </a:solidFill>
          <a:ln/>
        </p:spPr>
      </p:sp>
      <p:pic>
        <p:nvPicPr>
          <p:cNvPr id="16" name="Image 2" descr="icon">    </p:cNvPr>
          <p:cNvPicPr>
            <a:picLocks noChangeAspect="1"/>
          </p:cNvPicPr>
          <p:nvPr/>
        </p:nvPicPr>
        <p:blipFill>
          <a:blip r:embed="rId3"/>
          <a:stretch>
            <a:fillRect/>
          </a:stretch>
        </p:blipFill>
        <p:spPr>
          <a:xfrm>
            <a:off x="6601968" y="1947672"/>
            <a:ext cx="274320" cy="274320"/>
          </a:xfrm>
          <a:prstGeom prst="rect">
            <a:avLst/>
          </a:prstGeom>
        </p:spPr>
      </p:pic>
      <p:sp>
        <p:nvSpPr>
          <p:cNvPr id="17" name="KPI value"/>
          <p:cNvSpPr txBox="1"/>
          <p:nvPr/>
        </p:nvSpPr>
        <p:spPr>
          <a:xfrm>
            <a:off x="6464808" y="2423160"/>
            <a:ext cx="2103120" cy="914400"/>
          </a:xfrm>
          <a:prstGeom prst="rect">
            <a:avLst/>
          </a:prstGeom>
          <a:noFill/>
          <a:ln/>
        </p:spPr>
        <p:txBody>
          <a:bodyPr wrap="square" lIns="0" tIns="0" rIns="0" bIns="0" rtlCol="0" anchor="ctr"/>
          <a:lstStyle/>
          <a:p>
            <a:pPr indent="0" marL="0">
              <a:buNone/>
            </a:pPr>
            <a:r>
              <a:rPr lang="en-US" sz="6000" b="1" dirty="0">
                <a:solidFill>
                  <a:schemeClr val="tx1"/>
                </a:solidFill>
              </a:rPr>
              <a:t>8</a:t>
            </a:r>
            <a:endParaRPr lang="en-US" sz="6000" dirty="0"/>
          </a:p>
        </p:txBody>
      </p:sp>
      <p:sp>
        <p:nvSpPr>
          <p:cNvPr id="18" name="Text 13"/>
          <p:cNvSpPr txBox="1"/>
          <p:nvPr/>
        </p:nvSpPr>
        <p:spPr>
          <a:xfrm>
            <a:off x="6464808" y="3383280"/>
            <a:ext cx="2103120" cy="457200"/>
          </a:xfrm>
          <a:prstGeom prst="rect">
            <a:avLst/>
          </a:prstGeom>
          <a:noFill/>
          <a:ln/>
        </p:spPr>
        <p:txBody>
          <a:bodyPr wrap="square" lIns="0" tIns="0" rIns="0" bIns="0" rtlCol="0" anchor="t"/>
          <a:lstStyle/>
          <a:p>
            <a:pPr indent="0" marL="0">
              <a:buNone/>
            </a:pPr>
            <a:r>
              <a:rPr lang="en-US" sz="1600" dirty="0">
                <a:solidFill>
                  <a:schemeClr val="tx2"/>
                </a:solidFill>
              </a:rPr>
              <a:t>AI use cases</a:t>
            </a:r>
            <a:endParaRPr lang="en-US" sz="1600" dirty="0"/>
          </a:p>
        </p:txBody>
      </p:sp>
      <p:sp>
        <p:nvSpPr>
          <p:cNvPr id="19" name="KPI card"/>
          <p:cNvSpPr/>
          <p:nvPr/>
        </p:nvSpPr>
        <p:spPr>
          <a:xfrm>
            <a:off x="9079992" y="1600200"/>
            <a:ext cx="2560320" cy="2514600"/>
          </a:xfrm>
          <a:prstGeom prst="roundRect">
            <a:avLst>
              <a:gd name="adj" fmla="val 4364"/>
            </a:avLst>
          </a:prstGeom>
          <a:solidFill>
            <a:schemeClr val="bg1"/>
          </a:solidFill>
          <a:ln/>
          <a:effectLst>
            <a:outerShdw sx="100000" sy="100000" kx="0" ky="0" algn="bl" rotWithShape="0" blurRad="101600" dist="25400" dir="5400000">
              <a:srgbClr val="94A3B8">
                <a:alpha val="25000"/>
              </a:srgbClr>
            </a:outerShdw>
          </a:effectLst>
        </p:spPr>
      </p:sp>
      <p:sp>
        <p:nvSpPr>
          <p:cNvPr id="20" name="Icon circle"/>
          <p:cNvSpPr/>
          <p:nvPr/>
        </p:nvSpPr>
        <p:spPr>
          <a:xfrm>
            <a:off x="9308592" y="1810512"/>
            <a:ext cx="548640" cy="548640"/>
          </a:xfrm>
          <a:prstGeom prst="ellipse">
            <a:avLst/>
          </a:prstGeom>
          <a:solidFill>
            <a:schemeClr val="accent6"/>
          </a:solidFill>
          <a:ln/>
        </p:spPr>
      </p:sp>
      <p:pic>
        <p:nvPicPr>
          <p:cNvPr id="21" name="Image 3" descr="icon">    </p:cNvPr>
          <p:cNvPicPr>
            <a:picLocks noChangeAspect="1"/>
          </p:cNvPicPr>
          <p:nvPr/>
        </p:nvPicPr>
        <p:blipFill>
          <a:blip r:embed="rId4"/>
          <a:stretch>
            <a:fillRect/>
          </a:stretch>
        </p:blipFill>
        <p:spPr>
          <a:xfrm>
            <a:off x="9445752" y="1947672"/>
            <a:ext cx="274320" cy="274320"/>
          </a:xfrm>
          <a:prstGeom prst="rect">
            <a:avLst/>
          </a:prstGeom>
        </p:spPr>
      </p:pic>
      <p:sp>
        <p:nvSpPr>
          <p:cNvPr id="22" name="KPI value"/>
          <p:cNvSpPr txBox="1"/>
          <p:nvPr/>
        </p:nvSpPr>
        <p:spPr>
          <a:xfrm>
            <a:off x="9308592" y="2423160"/>
            <a:ext cx="2103120" cy="914400"/>
          </a:xfrm>
          <a:prstGeom prst="rect">
            <a:avLst/>
          </a:prstGeom>
          <a:noFill/>
          <a:ln/>
        </p:spPr>
        <p:txBody>
          <a:bodyPr wrap="square" lIns="0" tIns="0" rIns="0" bIns="0" rtlCol="0" anchor="ctr"/>
          <a:lstStyle/>
          <a:p>
            <a:pPr indent="0" marL="0">
              <a:buNone/>
            </a:pPr>
            <a:r>
              <a:rPr lang="en-US" sz="6000" b="1" dirty="0">
                <a:solidFill>
                  <a:schemeClr val="tx1"/>
                </a:solidFill>
              </a:rPr>
              <a:t>4+</a:t>
            </a:r>
            <a:endParaRPr lang="en-US" sz="6000" dirty="0"/>
          </a:p>
        </p:txBody>
      </p:sp>
      <p:sp>
        <p:nvSpPr>
          <p:cNvPr id="23" name="Text 17"/>
          <p:cNvSpPr txBox="1"/>
          <p:nvPr/>
        </p:nvSpPr>
        <p:spPr>
          <a:xfrm>
            <a:off x="9308592" y="3383280"/>
            <a:ext cx="2103120" cy="457200"/>
          </a:xfrm>
          <a:prstGeom prst="rect">
            <a:avLst/>
          </a:prstGeom>
          <a:noFill/>
          <a:ln/>
        </p:spPr>
        <p:txBody>
          <a:bodyPr wrap="square" lIns="0" tIns="0" rIns="0" bIns="0" rtlCol="0" anchor="t"/>
          <a:lstStyle/>
          <a:p>
            <a:pPr indent="0" marL="0">
              <a:buNone/>
            </a:pPr>
            <a:r>
              <a:rPr lang="en-US" sz="1600" dirty="0">
                <a:solidFill>
                  <a:schemeClr val="tx2"/>
                </a:solidFill>
              </a:rPr>
              <a:t>AI platforms compared</a:t>
            </a:r>
            <a:endParaRPr lang="en-US" sz="1600" dirty="0"/>
          </a:p>
        </p:txBody>
      </p:sp>
      <p:sp>
        <p:nvSpPr>
          <p:cNvPr id="24" name="Text 18"/>
          <p:cNvSpPr txBox="1"/>
          <p:nvPr/>
        </p:nvSpPr>
        <p:spPr>
          <a:xfrm>
            <a:off x="548640" y="4343400"/>
            <a:ext cx="11064240" cy="731520"/>
          </a:xfrm>
          <a:prstGeom prst="rect">
            <a:avLst/>
          </a:prstGeom>
          <a:noFill/>
          <a:ln/>
        </p:spPr>
        <p:txBody>
          <a:bodyPr wrap="square" lIns="0" tIns="0" rIns="0" bIns="0" rtlCol="0" anchor="t"/>
          <a:lstStyle/>
          <a:p>
            <a:pPr indent="0" marL="0">
              <a:buNone/>
            </a:pPr>
            <a:r>
              <a:rPr lang="en-US" sz="1600" dirty="0">
                <a:solidFill>
                  <a:schemeClr val="tx2"/>
                </a:solidFill>
              </a:rPr>
              <a:t>A compact but rich dataset: the 19 features cover user type, AI tool choice, use case, productivity, satisfaction, spending and time saved.</a:t>
            </a:r>
            <a:endParaRPr lang="en-US" sz="1600" dirty="0"/>
          </a:p>
        </p:txBody>
      </p:sp>
      <p:sp>
        <p:nvSpPr>
          <p:cNvPr id="25" name="Insight card"/>
          <p:cNvSpPr/>
          <p:nvPr/>
        </p:nvSpPr>
        <p:spPr>
          <a:xfrm>
            <a:off x="548640" y="5440680"/>
            <a:ext cx="11091672" cy="914400"/>
          </a:xfrm>
          <a:prstGeom prst="roundRect">
            <a:avLst>
              <a:gd name="adj" fmla="val 12000"/>
            </a:avLst>
          </a:prstGeom>
          <a:solidFill>
            <a:schemeClr val="bg2"/>
          </a:solidFill>
          <a:ln/>
        </p:spPr>
      </p:sp>
      <p:sp>
        <p:nvSpPr>
          <p:cNvPr id="26" name="Icon circle"/>
          <p:cNvSpPr/>
          <p:nvPr/>
        </p:nvSpPr>
        <p:spPr>
          <a:xfrm>
            <a:off x="777240" y="5623560"/>
            <a:ext cx="548640" cy="548640"/>
          </a:xfrm>
          <a:prstGeom prst="ellipse">
            <a:avLst/>
          </a:prstGeom>
          <a:solidFill>
            <a:schemeClr val="accent3"/>
          </a:solidFill>
          <a:ln/>
        </p:spPr>
      </p:sp>
      <p:pic>
        <p:nvPicPr>
          <p:cNvPr id="27" name="Image 4" descr="icon">    </p:cNvPr>
          <p:cNvPicPr>
            <a:picLocks noChangeAspect="1"/>
          </p:cNvPicPr>
          <p:nvPr/>
        </p:nvPicPr>
        <p:blipFill>
          <a:blip r:embed="rId5"/>
          <a:stretch>
            <a:fillRect/>
          </a:stretch>
        </p:blipFill>
        <p:spPr>
          <a:xfrm>
            <a:off x="914400" y="5760720"/>
            <a:ext cx="274320" cy="274320"/>
          </a:xfrm>
          <a:prstGeom prst="rect">
            <a:avLst/>
          </a:prstGeom>
        </p:spPr>
      </p:pic>
      <p:sp>
        <p:nvSpPr>
          <p:cNvPr id="28" name="Text 21"/>
          <p:cNvSpPr txBox="1"/>
          <p:nvPr/>
        </p:nvSpPr>
        <p:spPr>
          <a:xfrm>
            <a:off x="1554480" y="5550408"/>
            <a:ext cx="45720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BUSINESS INSIGHT</a:t>
            </a:r>
            <a:endParaRPr lang="en-US" sz="1100" dirty="0"/>
          </a:p>
        </p:txBody>
      </p:sp>
      <p:sp>
        <p:nvSpPr>
          <p:cNvPr id="29" name="Insight text"/>
          <p:cNvSpPr txBox="1"/>
          <p:nvPr/>
        </p:nvSpPr>
        <p:spPr>
          <a:xfrm>
            <a:off x="1554480" y="5779008"/>
            <a:ext cx="9875520" cy="502920"/>
          </a:xfrm>
          <a:prstGeom prst="rect">
            <a:avLst/>
          </a:prstGeom>
          <a:noFill/>
          <a:ln/>
        </p:spPr>
        <p:txBody>
          <a:bodyPr wrap="square" lIns="0" tIns="0" rIns="0" bIns="0" rtlCol="0" anchor="t"/>
          <a:lstStyle/>
          <a:p>
            <a:pPr indent="0" marL="0">
              <a:buNone/>
            </a:pPr>
            <a:r>
              <a:rPr lang="en-US" sz="1400" dirty="0">
                <a:solidFill>
                  <a:schemeClr val="tx1"/>
                </a:solidFill>
              </a:rPr>
              <a:t>Breadth across tools, purposes and outcomes lets us connect how people use AI to what they actually get out of it.</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ADOPTION</a:t>
            </a:r>
            <a:endParaRPr lang="en-US" sz="1100" dirty="0"/>
          </a:p>
        </p:txBody>
      </p:sp>
      <p:sp>
        <p:nvSpPr>
          <p:cNvPr id="3" name="Text 0"/>
          <p:cNvSpPr/>
          <p:nvPr>
            <p:ph idx="100" type="title" hasCustomPrompt="1"/>
          </p:nvPr>
        </p:nvSpPr>
        <p:spPr>
          <a:xfrm>
            <a:off x="548640" y="566928"/>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AI Adoption Is Widespread</a:t>
            </a:r>
            <a:endParaRPr lang="en-US" sz="3600" dirty="0"/>
          </a:p>
        </p:txBody>
      </p:sp>
      <p:graphicFrame>
        <p:nvGraphicFramePr>
          <p:cNvPr id="4" name="Chart 0" descr=""/>
          <p:cNvGraphicFramePr/>
          <p:nvPr/>
        </p:nvGraphicFramePr>
        <p:xfrm>
          <a:off x="548640" y="1554480"/>
          <a:ext cx="4937760" cy="3749040"/>
        </p:xfrm>
        <a:graphic xmlns:a="http://schemas.openxmlformats.org/drawingml/2006/main">
          <a:graphicData uri="http://schemas.openxmlformats.org/drawingml/2006/chart">
            <c:chart xmlns:c="http://schemas.openxmlformats.org/drawingml/2006/chart" r:id="rId1"/>
          </a:graphicData>
        </a:graphic>
      </p:graphicFrame>
      <p:sp>
        <p:nvSpPr>
          <p:cNvPr id="5" name="Doughnut centre label"/>
          <p:cNvSpPr txBox="1"/>
          <p:nvPr/>
        </p:nvSpPr>
        <p:spPr>
          <a:xfrm>
            <a:off x="1920240" y="2743200"/>
            <a:ext cx="2194560" cy="914400"/>
          </a:xfrm>
          <a:prstGeom prst="rect">
            <a:avLst/>
          </a:prstGeom>
          <a:noFill/>
          <a:ln/>
        </p:spPr>
        <p:txBody>
          <a:bodyPr wrap="square" lIns="0" tIns="0" rIns="0" bIns="0" rtlCol="0" anchor="ctr"/>
          <a:lstStyle/>
          <a:p>
            <a:pPr algn="ctr" indent="0" marL="0">
              <a:buNone/>
            </a:pPr>
            <a:r>
              <a:rPr lang="en-US" sz="3600" b="1" dirty="0">
                <a:solidFill>
                  <a:schemeClr val="tx1"/>
                </a:solidFill>
              </a:rPr>
              <a:t>300</a:t>
            </a:r>
            <a:endParaRPr lang="en-US" sz="3600" dirty="0"/>
          </a:p>
          <a:p>
            <a:pPr algn="ctr" indent="0" marL="0">
              <a:buNone/>
            </a:pPr>
            <a:r>
              <a:rPr lang="en-US" sz="1400" dirty="0">
                <a:solidFill>
                  <a:schemeClr val="tx1"/>
                </a:solidFill>
              </a:rPr>
              <a:t>respondents</a:t>
            </a:r>
            <a:endParaRPr lang="en-US" sz="3600" dirty="0"/>
          </a:p>
        </p:txBody>
      </p:sp>
      <p:sp>
        <p:nvSpPr>
          <p:cNvPr id="6" name="Insight row"/>
          <p:cNvSpPr/>
          <p:nvPr/>
        </p:nvSpPr>
        <p:spPr>
          <a:xfrm>
            <a:off x="5943600" y="1645920"/>
            <a:ext cx="5696712" cy="1005840"/>
          </a:xfrm>
          <a:prstGeom prst="roundRect">
            <a:avLst>
              <a:gd name="adj" fmla="val 10909"/>
            </a:avLst>
          </a:prstGeom>
          <a:solidFill>
            <a:schemeClr val="bg2"/>
          </a:solidFill>
          <a:ln/>
        </p:spPr>
      </p:sp>
      <p:sp>
        <p:nvSpPr>
          <p:cNvPr id="7" name="Icon circle"/>
          <p:cNvSpPr/>
          <p:nvPr/>
        </p:nvSpPr>
        <p:spPr>
          <a:xfrm>
            <a:off x="6172200" y="1874520"/>
            <a:ext cx="548640" cy="548640"/>
          </a:xfrm>
          <a:prstGeom prst="ellipse">
            <a:avLst/>
          </a:prstGeom>
          <a:solidFill>
            <a:schemeClr val="accent1"/>
          </a:solidFill>
          <a:ln/>
        </p:spPr>
      </p:sp>
      <p:pic>
        <p:nvPicPr>
          <p:cNvPr id="8" name="Image 0" descr="icon">    </p:cNvPr>
          <p:cNvPicPr>
            <a:picLocks noChangeAspect="1"/>
          </p:cNvPicPr>
          <p:nvPr/>
        </p:nvPicPr>
        <p:blipFill>
          <a:blip r:embed="rId2"/>
          <a:stretch>
            <a:fillRect/>
          </a:stretch>
        </p:blipFill>
        <p:spPr>
          <a:xfrm>
            <a:off x="6309360" y="2011680"/>
            <a:ext cx="274320" cy="274320"/>
          </a:xfrm>
          <a:prstGeom prst="rect">
            <a:avLst/>
          </a:prstGeom>
        </p:spPr>
      </p:pic>
      <p:sp>
        <p:nvSpPr>
          <p:cNvPr id="9" name="Text 5"/>
          <p:cNvSpPr txBox="1"/>
          <p:nvPr/>
        </p:nvSpPr>
        <p:spPr>
          <a:xfrm>
            <a:off x="6949440" y="1783080"/>
            <a:ext cx="4480560" cy="320040"/>
          </a:xfrm>
          <a:prstGeom prst="rect">
            <a:avLst/>
          </a:prstGeom>
          <a:noFill/>
          <a:ln/>
        </p:spPr>
        <p:txBody>
          <a:bodyPr wrap="square" lIns="0" tIns="0" rIns="0" bIns="0" rtlCol="0" anchor="ctr"/>
          <a:lstStyle/>
          <a:p>
            <a:pPr indent="0" marL="0">
              <a:buNone/>
            </a:pPr>
            <a:r>
              <a:rPr lang="en-US" sz="1800" b="1" dirty="0">
                <a:solidFill>
                  <a:schemeClr val="tx1"/>
                </a:solidFill>
              </a:rPr>
              <a:t>A balanced sample</a:t>
            </a:r>
            <a:endParaRPr lang="en-US" sz="1800" dirty="0"/>
          </a:p>
        </p:txBody>
      </p:sp>
      <p:sp>
        <p:nvSpPr>
          <p:cNvPr id="10" name="Text 6"/>
          <p:cNvSpPr txBox="1"/>
          <p:nvPr/>
        </p:nvSpPr>
        <p:spPr>
          <a:xfrm>
            <a:off x="6949440" y="2121408"/>
            <a:ext cx="4480560" cy="457200"/>
          </a:xfrm>
          <a:prstGeom prst="rect">
            <a:avLst/>
          </a:prstGeom>
          <a:noFill/>
          <a:ln/>
        </p:spPr>
        <p:txBody>
          <a:bodyPr wrap="square" lIns="0" tIns="0" rIns="0" bIns="0" rtlCol="0" anchor="t"/>
          <a:lstStyle/>
          <a:p>
            <a:pPr indent="0" marL="0">
              <a:buNone/>
            </a:pPr>
            <a:r>
              <a:rPr lang="en-US" sz="1400" dirty="0">
                <a:solidFill>
                  <a:schemeClr val="tx2"/>
                </a:solidFill>
              </a:rPr>
              <a:t>52% students and 48% professionals</a:t>
            </a:r>
            <a:endParaRPr lang="en-US" sz="1400" dirty="0"/>
          </a:p>
        </p:txBody>
      </p:sp>
      <p:sp>
        <p:nvSpPr>
          <p:cNvPr id="11" name="Insight row"/>
          <p:cNvSpPr/>
          <p:nvPr/>
        </p:nvSpPr>
        <p:spPr>
          <a:xfrm>
            <a:off x="5943600" y="2834640"/>
            <a:ext cx="5696712" cy="1005840"/>
          </a:xfrm>
          <a:prstGeom prst="roundRect">
            <a:avLst>
              <a:gd name="adj" fmla="val 10909"/>
            </a:avLst>
          </a:prstGeom>
          <a:solidFill>
            <a:schemeClr val="bg2"/>
          </a:solidFill>
          <a:ln/>
        </p:spPr>
      </p:sp>
      <p:sp>
        <p:nvSpPr>
          <p:cNvPr id="12" name="Icon circle"/>
          <p:cNvSpPr/>
          <p:nvPr/>
        </p:nvSpPr>
        <p:spPr>
          <a:xfrm>
            <a:off x="6172200" y="3063240"/>
            <a:ext cx="548640" cy="548640"/>
          </a:xfrm>
          <a:prstGeom prst="ellipse">
            <a:avLst/>
          </a:prstGeom>
          <a:solidFill>
            <a:schemeClr val="accent2"/>
          </a:solidFill>
          <a:ln/>
        </p:spPr>
      </p:sp>
      <p:pic>
        <p:nvPicPr>
          <p:cNvPr id="13" name="Image 1" descr="icon">    </p:cNvPr>
          <p:cNvPicPr>
            <a:picLocks noChangeAspect="1"/>
          </p:cNvPicPr>
          <p:nvPr/>
        </p:nvPicPr>
        <p:blipFill>
          <a:blip r:embed="rId3"/>
          <a:stretch>
            <a:fillRect/>
          </a:stretch>
        </p:blipFill>
        <p:spPr>
          <a:xfrm>
            <a:off x="6309360" y="3200400"/>
            <a:ext cx="274320" cy="274320"/>
          </a:xfrm>
          <a:prstGeom prst="rect">
            <a:avLst/>
          </a:prstGeom>
        </p:spPr>
      </p:pic>
      <p:sp>
        <p:nvSpPr>
          <p:cNvPr id="14" name="Text 9"/>
          <p:cNvSpPr txBox="1"/>
          <p:nvPr/>
        </p:nvSpPr>
        <p:spPr>
          <a:xfrm>
            <a:off x="6949440" y="2971800"/>
            <a:ext cx="4480560" cy="320040"/>
          </a:xfrm>
          <a:prstGeom prst="rect">
            <a:avLst/>
          </a:prstGeom>
          <a:noFill/>
          <a:ln/>
        </p:spPr>
        <p:txBody>
          <a:bodyPr wrap="square" lIns="0" tIns="0" rIns="0" bIns="0" rtlCol="0" anchor="ctr"/>
          <a:lstStyle/>
          <a:p>
            <a:pPr indent="0" marL="0">
              <a:buNone/>
            </a:pPr>
            <a:r>
              <a:rPr lang="en-US" sz="1800" b="1" dirty="0">
                <a:solidFill>
                  <a:schemeClr val="tx1"/>
                </a:solidFill>
              </a:rPr>
              <a:t>Similar usage patterns</a:t>
            </a:r>
            <a:endParaRPr lang="en-US" sz="1800" dirty="0"/>
          </a:p>
        </p:txBody>
      </p:sp>
      <p:sp>
        <p:nvSpPr>
          <p:cNvPr id="15" name="Text 10"/>
          <p:cNvSpPr txBox="1"/>
          <p:nvPr/>
        </p:nvSpPr>
        <p:spPr>
          <a:xfrm>
            <a:off x="6949440" y="3310128"/>
            <a:ext cx="4480560" cy="457200"/>
          </a:xfrm>
          <a:prstGeom prst="rect">
            <a:avLst/>
          </a:prstGeom>
          <a:noFill/>
          <a:ln/>
        </p:spPr>
        <p:txBody>
          <a:bodyPr wrap="square" lIns="0" tIns="0" rIns="0" bIns="0" rtlCol="0" anchor="t"/>
          <a:lstStyle/>
          <a:p>
            <a:pPr indent="0" marL="0">
              <a:buNone/>
            </a:pPr>
            <a:r>
              <a:rPr lang="en-US" sz="1400" dirty="0">
                <a:solidFill>
                  <a:schemeClr val="tx2"/>
                </a:solidFill>
              </a:rPr>
              <a:t>Both groups use AI in comparable ways</a:t>
            </a:r>
            <a:endParaRPr lang="en-US" sz="1400" dirty="0"/>
          </a:p>
        </p:txBody>
      </p:sp>
      <p:sp>
        <p:nvSpPr>
          <p:cNvPr id="16" name="Insight row"/>
          <p:cNvSpPr/>
          <p:nvPr/>
        </p:nvSpPr>
        <p:spPr>
          <a:xfrm>
            <a:off x="5943600" y="4023360"/>
            <a:ext cx="5696712" cy="1005840"/>
          </a:xfrm>
          <a:prstGeom prst="roundRect">
            <a:avLst>
              <a:gd name="adj" fmla="val 10909"/>
            </a:avLst>
          </a:prstGeom>
          <a:solidFill>
            <a:schemeClr val="bg2"/>
          </a:solidFill>
          <a:ln/>
        </p:spPr>
      </p:sp>
      <p:sp>
        <p:nvSpPr>
          <p:cNvPr id="17" name="Icon circle"/>
          <p:cNvSpPr/>
          <p:nvPr/>
        </p:nvSpPr>
        <p:spPr>
          <a:xfrm>
            <a:off x="6172200" y="4251960"/>
            <a:ext cx="548640" cy="548640"/>
          </a:xfrm>
          <a:prstGeom prst="ellipse">
            <a:avLst/>
          </a:prstGeom>
          <a:solidFill>
            <a:schemeClr val="accent6"/>
          </a:solidFill>
          <a:ln/>
        </p:spPr>
      </p:sp>
      <p:pic>
        <p:nvPicPr>
          <p:cNvPr id="18" name="Image 2" descr="icon">    </p:cNvPr>
          <p:cNvPicPr>
            <a:picLocks noChangeAspect="1"/>
          </p:cNvPicPr>
          <p:nvPr/>
        </p:nvPicPr>
        <p:blipFill>
          <a:blip r:embed="rId4"/>
          <a:stretch>
            <a:fillRect/>
          </a:stretch>
        </p:blipFill>
        <p:spPr>
          <a:xfrm>
            <a:off x="6309360" y="4389120"/>
            <a:ext cx="274320" cy="274320"/>
          </a:xfrm>
          <a:prstGeom prst="rect">
            <a:avLst/>
          </a:prstGeom>
        </p:spPr>
      </p:pic>
      <p:sp>
        <p:nvSpPr>
          <p:cNvPr id="19" name="Text 13"/>
          <p:cNvSpPr txBox="1"/>
          <p:nvPr/>
        </p:nvSpPr>
        <p:spPr>
          <a:xfrm>
            <a:off x="6949440" y="4160520"/>
            <a:ext cx="4480560" cy="320040"/>
          </a:xfrm>
          <a:prstGeom prst="rect">
            <a:avLst/>
          </a:prstGeom>
          <a:noFill/>
          <a:ln/>
        </p:spPr>
        <p:txBody>
          <a:bodyPr wrap="square" lIns="0" tIns="0" rIns="0" bIns="0" rtlCol="0" anchor="ctr"/>
          <a:lstStyle/>
          <a:p>
            <a:pPr indent="0" marL="0">
              <a:buNone/>
            </a:pPr>
            <a:r>
              <a:rPr lang="en-US" sz="1800" b="1" dirty="0">
                <a:solidFill>
                  <a:schemeClr val="tx1"/>
                </a:solidFill>
              </a:rPr>
              <a:t>Adoption is widespread</a:t>
            </a:r>
            <a:endParaRPr lang="en-US" sz="1800" dirty="0"/>
          </a:p>
        </p:txBody>
      </p:sp>
      <p:sp>
        <p:nvSpPr>
          <p:cNvPr id="20" name="Text 14"/>
          <p:cNvSpPr txBox="1"/>
          <p:nvPr/>
        </p:nvSpPr>
        <p:spPr>
          <a:xfrm>
            <a:off x="6949440" y="4498848"/>
            <a:ext cx="4480560" cy="457200"/>
          </a:xfrm>
          <a:prstGeom prst="rect">
            <a:avLst/>
          </a:prstGeom>
          <a:noFill/>
          <a:ln/>
        </p:spPr>
        <p:txBody>
          <a:bodyPr wrap="square" lIns="0" tIns="0" rIns="0" bIns="0" rtlCol="0" anchor="t"/>
          <a:lstStyle/>
          <a:p>
            <a:pPr indent="0" marL="0">
              <a:buNone/>
            </a:pPr>
            <a:r>
              <a:rPr lang="en-US" sz="1400" dirty="0">
                <a:solidFill>
                  <a:schemeClr val="tx2"/>
                </a:solidFill>
              </a:rPr>
              <a:t>AI is mainstream in both study and work, not a niche tool</a:t>
            </a:r>
            <a:endParaRPr lang="en-US" sz="1400" dirty="0"/>
          </a:p>
        </p:txBody>
      </p:sp>
      <p:sp>
        <p:nvSpPr>
          <p:cNvPr id="21" name="Insight card"/>
          <p:cNvSpPr/>
          <p:nvPr/>
        </p:nvSpPr>
        <p:spPr>
          <a:xfrm>
            <a:off x="548640" y="5440680"/>
            <a:ext cx="11091672" cy="914400"/>
          </a:xfrm>
          <a:prstGeom prst="roundRect">
            <a:avLst>
              <a:gd name="adj" fmla="val 12000"/>
            </a:avLst>
          </a:prstGeom>
          <a:solidFill>
            <a:schemeClr val="bg2"/>
          </a:solidFill>
          <a:ln/>
        </p:spPr>
      </p:sp>
      <p:sp>
        <p:nvSpPr>
          <p:cNvPr id="22" name="Icon circle"/>
          <p:cNvSpPr/>
          <p:nvPr/>
        </p:nvSpPr>
        <p:spPr>
          <a:xfrm>
            <a:off x="777240" y="5623560"/>
            <a:ext cx="548640" cy="548640"/>
          </a:xfrm>
          <a:prstGeom prst="ellipse">
            <a:avLst/>
          </a:prstGeom>
          <a:solidFill>
            <a:schemeClr val="accent3"/>
          </a:solidFill>
          <a:ln/>
        </p:spPr>
      </p:sp>
      <p:pic>
        <p:nvPicPr>
          <p:cNvPr id="23" name="Image 3" descr="icon">    </p:cNvPr>
          <p:cNvPicPr>
            <a:picLocks noChangeAspect="1"/>
          </p:cNvPicPr>
          <p:nvPr/>
        </p:nvPicPr>
        <p:blipFill>
          <a:blip r:embed="rId5"/>
          <a:stretch>
            <a:fillRect/>
          </a:stretch>
        </p:blipFill>
        <p:spPr>
          <a:xfrm>
            <a:off x="914400" y="5760720"/>
            <a:ext cx="274320" cy="274320"/>
          </a:xfrm>
          <a:prstGeom prst="rect">
            <a:avLst/>
          </a:prstGeom>
        </p:spPr>
      </p:pic>
      <p:sp>
        <p:nvSpPr>
          <p:cNvPr id="24" name="Text 17"/>
          <p:cNvSpPr txBox="1"/>
          <p:nvPr/>
        </p:nvSpPr>
        <p:spPr>
          <a:xfrm>
            <a:off x="1554480" y="5550408"/>
            <a:ext cx="45720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BUSINESS INSIGHT</a:t>
            </a:r>
            <a:endParaRPr lang="en-US" sz="1100" dirty="0"/>
          </a:p>
        </p:txBody>
      </p:sp>
      <p:sp>
        <p:nvSpPr>
          <p:cNvPr id="25" name="Insight text"/>
          <p:cNvSpPr txBox="1"/>
          <p:nvPr/>
        </p:nvSpPr>
        <p:spPr>
          <a:xfrm>
            <a:off x="1554480" y="5779008"/>
            <a:ext cx="9875520" cy="502920"/>
          </a:xfrm>
          <a:prstGeom prst="rect">
            <a:avLst/>
          </a:prstGeom>
          <a:noFill/>
          <a:ln/>
        </p:spPr>
        <p:txBody>
          <a:bodyPr wrap="square" lIns="0" tIns="0" rIns="0" bIns="0" rtlCol="0" anchor="t"/>
          <a:lstStyle/>
          <a:p>
            <a:pPr indent="0" marL="0">
              <a:buNone/>
            </a:pPr>
            <a:r>
              <a:rPr lang="en-US" sz="1400" dirty="0">
                <a:solidFill>
                  <a:schemeClr val="tx1"/>
                </a:solidFill>
              </a:rPr>
              <a:t>Student and professional audiences behave alike, so AI programs, tools and training can be designed once and adapted lightly for each group.</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AI TOOLS</a:t>
            </a:r>
            <a:endParaRPr lang="en-US" sz="1100" dirty="0"/>
          </a:p>
        </p:txBody>
      </p:sp>
      <p:sp>
        <p:nvSpPr>
          <p:cNvPr id="3" name="Placeholder data tag"/>
          <p:cNvSpPr txBox="1"/>
          <p:nvPr/>
        </p:nvSpPr>
        <p:spPr>
          <a:xfrm>
            <a:off x="8732520" y="274320"/>
            <a:ext cx="2907792"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dirty="0">
                <a:solidFill>
                  <a:schemeClr val="tx1"/>
                </a:solidFill>
              </a:rPr>
              <a:t>ILLUSTRATIVE VALUES · EDIT CHART DATA</a:t>
            </a:r>
            <a:endParaRPr lang="en-US" sz="1000" dirty="0"/>
          </a:p>
        </p:txBody>
      </p:sp>
      <p:sp>
        <p:nvSpPr>
          <p:cNvPr id="4" name="Text 0"/>
          <p:cNvSpPr/>
          <p:nvPr>
            <p:ph idx="100" type="title" hasCustomPrompt="1"/>
          </p:nvPr>
        </p:nvSpPr>
        <p:spPr>
          <a:xfrm>
            <a:off x="548640" y="566928"/>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ChatGPT Leads the Market</a:t>
            </a:r>
            <a:endParaRPr lang="en-US" sz="3600" dirty="0"/>
          </a:p>
        </p:txBody>
      </p:sp>
      <p:sp>
        <p:nvSpPr>
          <p:cNvPr id="5" name="Text 3"/>
          <p:cNvSpPr txBox="1"/>
          <p:nvPr/>
        </p:nvSpPr>
        <p:spPr>
          <a:xfrm>
            <a:off x="548640" y="1554480"/>
            <a:ext cx="6035040" cy="274320"/>
          </a:xfrm>
          <a:prstGeom prst="rect">
            <a:avLst/>
          </a:prstGeom>
          <a:noFill/>
          <a:ln/>
        </p:spPr>
        <p:txBody>
          <a:bodyPr wrap="square" lIns="0" tIns="0" rIns="0" bIns="0" rtlCol="0" anchor="ctr"/>
          <a:lstStyle/>
          <a:p>
            <a:pPr indent="0" marL="0">
              <a:buNone/>
            </a:pPr>
            <a:r>
              <a:rPr lang="en-US" sz="1400" b="1" dirty="0">
                <a:solidFill>
                  <a:schemeClr val="tx2"/>
                </a:solidFill>
              </a:rPr>
              <a:t>AI tool distribution (share of users)</a:t>
            </a:r>
            <a:endParaRPr lang="en-US" sz="1400" dirty="0"/>
          </a:p>
        </p:txBody>
      </p:sp>
      <p:graphicFrame>
        <p:nvGraphicFramePr>
          <p:cNvPr id="6" name="Chart 0" descr=""/>
          <p:cNvGraphicFramePr/>
          <p:nvPr/>
        </p:nvGraphicFramePr>
        <p:xfrm>
          <a:off x="548640" y="1828800"/>
          <a:ext cx="6035040" cy="3474720"/>
        </p:xfrm>
        <a:graphic xmlns:a="http://schemas.openxmlformats.org/drawingml/2006/main">
          <a:graphicData uri="http://schemas.openxmlformats.org/drawingml/2006/chart">
            <c:chart xmlns:c="http://schemas.openxmlformats.org/drawingml/2006/chart" r:id="rId1"/>
          </a:graphicData>
        </a:graphic>
      </p:graphicFrame>
      <p:sp>
        <p:nvSpPr>
          <p:cNvPr id="7" name="Tier card"/>
          <p:cNvSpPr/>
          <p:nvPr/>
        </p:nvSpPr>
        <p:spPr>
          <a:xfrm>
            <a:off x="7040880" y="1600200"/>
            <a:ext cx="4599432" cy="1097280"/>
          </a:xfrm>
          <a:prstGeom prst="roundRect">
            <a:avLst>
              <a:gd name="adj" fmla="val 10000"/>
            </a:avLst>
          </a:prstGeom>
          <a:solidFill>
            <a:schemeClr val="accent1"/>
          </a:solidFill>
          <a:ln/>
        </p:spPr>
      </p:sp>
      <p:sp>
        <p:nvSpPr>
          <p:cNvPr id="8" name="Text 5"/>
          <p:cNvSpPr txBox="1"/>
          <p:nvPr/>
        </p:nvSpPr>
        <p:spPr>
          <a:xfrm>
            <a:off x="7269480" y="1709928"/>
            <a:ext cx="4114800" cy="228600"/>
          </a:xfrm>
          <a:prstGeom prst="rect">
            <a:avLst/>
          </a:prstGeom>
          <a:noFill/>
          <a:ln/>
        </p:spPr>
        <p:txBody>
          <a:bodyPr wrap="square" lIns="0" tIns="0" rIns="0" bIns="0" rtlCol="0" anchor="ctr"/>
          <a:lstStyle/>
          <a:p>
            <a:pPr indent="0" marL="0">
              <a:buNone/>
            </a:pPr>
            <a:r>
              <a:rPr lang="en-US" sz="1100" b="1" spc="200" kern="0" dirty="0">
                <a:solidFill>
                  <a:schemeClr val="bg2"/>
                </a:solidFill>
              </a:rPr>
              <a:t>TIER 1 · DOMINANT</a:t>
            </a:r>
            <a:endParaRPr lang="en-US" sz="1100" dirty="0"/>
          </a:p>
        </p:txBody>
      </p:sp>
      <p:sp>
        <p:nvSpPr>
          <p:cNvPr id="9" name="Text 6"/>
          <p:cNvSpPr txBox="1"/>
          <p:nvPr/>
        </p:nvSpPr>
        <p:spPr>
          <a:xfrm>
            <a:off x="7269480" y="1947672"/>
            <a:ext cx="4114800" cy="365760"/>
          </a:xfrm>
          <a:prstGeom prst="rect">
            <a:avLst/>
          </a:prstGeom>
          <a:noFill/>
          <a:ln/>
        </p:spPr>
        <p:txBody>
          <a:bodyPr wrap="square" lIns="0" tIns="0" rIns="0" bIns="0" rtlCol="0" anchor="ctr"/>
          <a:lstStyle/>
          <a:p>
            <a:pPr indent="0" marL="0">
              <a:buNone/>
            </a:pPr>
            <a:r>
              <a:rPr lang="en-US" sz="2000" b="1" dirty="0">
                <a:solidFill>
                  <a:schemeClr val="bg1"/>
                </a:solidFill>
              </a:rPr>
              <a:t>ChatGPT</a:t>
            </a:r>
            <a:endParaRPr lang="en-US" sz="2000" dirty="0"/>
          </a:p>
        </p:txBody>
      </p:sp>
      <p:sp>
        <p:nvSpPr>
          <p:cNvPr id="10" name="Text 7"/>
          <p:cNvSpPr txBox="1"/>
          <p:nvPr/>
        </p:nvSpPr>
        <p:spPr>
          <a:xfrm>
            <a:off x="7269480" y="2331720"/>
            <a:ext cx="4114800" cy="274320"/>
          </a:xfrm>
          <a:prstGeom prst="rect">
            <a:avLst/>
          </a:prstGeom>
          <a:noFill/>
          <a:ln/>
        </p:spPr>
        <p:txBody>
          <a:bodyPr wrap="square" lIns="0" tIns="0" rIns="0" bIns="0" rtlCol="0" anchor="ctr"/>
          <a:lstStyle/>
          <a:p>
            <a:pPr indent="0" marL="0">
              <a:buNone/>
            </a:pPr>
            <a:r>
              <a:rPr lang="en-US" sz="1400" dirty="0">
                <a:solidFill>
                  <a:schemeClr val="bg2"/>
                </a:solidFill>
              </a:rPr>
              <a:t>The default choice for most users</a:t>
            </a:r>
            <a:endParaRPr lang="en-US" sz="1400" dirty="0"/>
          </a:p>
        </p:txBody>
      </p:sp>
      <p:sp>
        <p:nvSpPr>
          <p:cNvPr id="11" name="Tier card"/>
          <p:cNvSpPr/>
          <p:nvPr/>
        </p:nvSpPr>
        <p:spPr>
          <a:xfrm>
            <a:off x="7040880" y="2880360"/>
            <a:ext cx="4599432" cy="1097280"/>
          </a:xfrm>
          <a:prstGeom prst="roundRect">
            <a:avLst>
              <a:gd name="adj" fmla="val 10000"/>
            </a:avLst>
          </a:prstGeom>
          <a:solidFill>
            <a:schemeClr val="accent2"/>
          </a:solidFill>
          <a:ln/>
        </p:spPr>
      </p:sp>
      <p:sp>
        <p:nvSpPr>
          <p:cNvPr id="12" name="Text 9"/>
          <p:cNvSpPr txBox="1"/>
          <p:nvPr/>
        </p:nvSpPr>
        <p:spPr>
          <a:xfrm>
            <a:off x="7269480" y="2990088"/>
            <a:ext cx="4114800" cy="228600"/>
          </a:xfrm>
          <a:prstGeom prst="rect">
            <a:avLst/>
          </a:prstGeom>
          <a:noFill/>
          <a:ln/>
        </p:spPr>
        <p:txBody>
          <a:bodyPr wrap="square" lIns="0" tIns="0" rIns="0" bIns="0" rtlCol="0" anchor="ctr"/>
          <a:lstStyle/>
          <a:p>
            <a:pPr indent="0" marL="0">
              <a:buNone/>
            </a:pPr>
            <a:r>
              <a:rPr lang="en-US" sz="1100" b="1" spc="200" kern="0" dirty="0">
                <a:solidFill>
                  <a:schemeClr val="tx1"/>
                </a:solidFill>
              </a:rPr>
              <a:t>TIER 2 · CHALLENGERS</a:t>
            </a:r>
            <a:endParaRPr lang="en-US" sz="1100" dirty="0"/>
          </a:p>
        </p:txBody>
      </p:sp>
      <p:sp>
        <p:nvSpPr>
          <p:cNvPr id="13" name="Text 10"/>
          <p:cNvSpPr txBox="1"/>
          <p:nvPr/>
        </p:nvSpPr>
        <p:spPr>
          <a:xfrm>
            <a:off x="7269480" y="3227832"/>
            <a:ext cx="4114800" cy="365760"/>
          </a:xfrm>
          <a:prstGeom prst="rect">
            <a:avLst/>
          </a:prstGeom>
          <a:noFill/>
          <a:ln/>
        </p:spPr>
        <p:txBody>
          <a:bodyPr wrap="square" lIns="0" tIns="0" rIns="0" bIns="0" rtlCol="0" anchor="ctr"/>
          <a:lstStyle/>
          <a:p>
            <a:pPr indent="0" marL="0">
              <a:buNone/>
            </a:pPr>
            <a:r>
              <a:rPr lang="en-US" sz="2000" b="1" dirty="0">
                <a:solidFill>
                  <a:schemeClr val="tx1"/>
                </a:solidFill>
              </a:rPr>
              <a:t>Gemini · Copilot · Claude</a:t>
            </a:r>
            <a:endParaRPr lang="en-US" sz="2000" dirty="0"/>
          </a:p>
        </p:txBody>
      </p:sp>
      <p:sp>
        <p:nvSpPr>
          <p:cNvPr id="14" name="Text 11"/>
          <p:cNvSpPr txBox="1"/>
          <p:nvPr/>
        </p:nvSpPr>
        <p:spPr>
          <a:xfrm>
            <a:off x="7269480" y="3611880"/>
            <a:ext cx="4114800" cy="274320"/>
          </a:xfrm>
          <a:prstGeom prst="rect">
            <a:avLst/>
          </a:prstGeom>
          <a:noFill/>
          <a:ln/>
        </p:spPr>
        <p:txBody>
          <a:bodyPr wrap="square" lIns="0" tIns="0" rIns="0" bIns="0" rtlCol="0" anchor="ctr"/>
          <a:lstStyle/>
          <a:p>
            <a:pPr indent="0" marL="0">
              <a:buNone/>
            </a:pPr>
            <a:r>
              <a:rPr lang="en-US" sz="1400" dirty="0">
                <a:solidFill>
                  <a:schemeClr val="tx1"/>
                </a:solidFill>
              </a:rPr>
              <a:t>A competitive second tier</a:t>
            </a:r>
            <a:endParaRPr lang="en-US" sz="1400" dirty="0"/>
          </a:p>
        </p:txBody>
      </p:sp>
      <p:sp>
        <p:nvSpPr>
          <p:cNvPr id="15" name="Tier card"/>
          <p:cNvSpPr/>
          <p:nvPr/>
        </p:nvSpPr>
        <p:spPr>
          <a:xfrm>
            <a:off x="7040880" y="4160520"/>
            <a:ext cx="4599432" cy="1097280"/>
          </a:xfrm>
          <a:prstGeom prst="roundRect">
            <a:avLst>
              <a:gd name="adj" fmla="val 10000"/>
            </a:avLst>
          </a:prstGeom>
          <a:solidFill>
            <a:schemeClr val="bg2"/>
          </a:solidFill>
          <a:ln/>
        </p:spPr>
      </p:sp>
      <p:sp>
        <p:nvSpPr>
          <p:cNvPr id="16" name="Text 13"/>
          <p:cNvSpPr txBox="1"/>
          <p:nvPr/>
        </p:nvSpPr>
        <p:spPr>
          <a:xfrm>
            <a:off x="7269480" y="4270248"/>
            <a:ext cx="4114800" cy="228600"/>
          </a:xfrm>
          <a:prstGeom prst="rect">
            <a:avLst/>
          </a:prstGeom>
          <a:noFill/>
          <a:ln/>
        </p:spPr>
        <p:txBody>
          <a:bodyPr wrap="square" lIns="0" tIns="0" rIns="0" bIns="0" rtlCol="0" anchor="ctr"/>
          <a:lstStyle/>
          <a:p>
            <a:pPr indent="0" marL="0">
              <a:buNone/>
            </a:pPr>
            <a:r>
              <a:rPr lang="en-US" sz="1100" b="1" spc="200" kern="0" dirty="0">
                <a:solidFill>
                  <a:schemeClr val="tx2"/>
                </a:solidFill>
              </a:rPr>
              <a:t>TIER 3 · NICHE</a:t>
            </a:r>
            <a:endParaRPr lang="en-US" sz="1100" dirty="0"/>
          </a:p>
        </p:txBody>
      </p:sp>
      <p:sp>
        <p:nvSpPr>
          <p:cNvPr id="17" name="Text 14"/>
          <p:cNvSpPr txBox="1"/>
          <p:nvPr/>
        </p:nvSpPr>
        <p:spPr>
          <a:xfrm>
            <a:off x="7269480" y="4507992"/>
            <a:ext cx="4114800" cy="365760"/>
          </a:xfrm>
          <a:prstGeom prst="rect">
            <a:avLst/>
          </a:prstGeom>
          <a:noFill/>
          <a:ln/>
        </p:spPr>
        <p:txBody>
          <a:bodyPr wrap="square" lIns="0" tIns="0" rIns="0" bIns="0" rtlCol="0" anchor="ctr"/>
          <a:lstStyle/>
          <a:p>
            <a:pPr indent="0" marL="0">
              <a:buNone/>
            </a:pPr>
            <a:r>
              <a:rPr lang="en-US" sz="2000" b="1" dirty="0">
                <a:solidFill>
                  <a:schemeClr val="tx1"/>
                </a:solidFill>
              </a:rPr>
              <a:t>Other platforms</a:t>
            </a:r>
            <a:endParaRPr lang="en-US" sz="2000" dirty="0"/>
          </a:p>
        </p:txBody>
      </p:sp>
      <p:sp>
        <p:nvSpPr>
          <p:cNvPr id="18" name="Text 15"/>
          <p:cNvSpPr txBox="1"/>
          <p:nvPr/>
        </p:nvSpPr>
        <p:spPr>
          <a:xfrm>
            <a:off x="7269480" y="4892040"/>
            <a:ext cx="4114800" cy="274320"/>
          </a:xfrm>
          <a:prstGeom prst="rect">
            <a:avLst/>
          </a:prstGeom>
          <a:noFill/>
          <a:ln/>
        </p:spPr>
        <p:txBody>
          <a:bodyPr wrap="square" lIns="0" tIns="0" rIns="0" bIns="0" rtlCol="0" anchor="ctr"/>
          <a:lstStyle/>
          <a:p>
            <a:pPr indent="0" marL="0">
              <a:buNone/>
            </a:pPr>
            <a:r>
              <a:rPr lang="en-US" sz="1400" dirty="0">
                <a:solidFill>
                  <a:schemeClr val="tx2"/>
                </a:solidFill>
              </a:rPr>
              <a:t>Small, specialised audiences</a:t>
            </a:r>
            <a:endParaRPr lang="en-US" sz="1400" dirty="0"/>
          </a:p>
        </p:txBody>
      </p:sp>
      <p:sp>
        <p:nvSpPr>
          <p:cNvPr id="19" name="Insight card"/>
          <p:cNvSpPr/>
          <p:nvPr/>
        </p:nvSpPr>
        <p:spPr>
          <a:xfrm>
            <a:off x="548640" y="5440680"/>
            <a:ext cx="11091672" cy="914400"/>
          </a:xfrm>
          <a:prstGeom prst="roundRect">
            <a:avLst>
              <a:gd name="adj" fmla="val 12000"/>
            </a:avLst>
          </a:prstGeom>
          <a:solidFill>
            <a:schemeClr val="bg2"/>
          </a:solidFill>
          <a:ln/>
        </p:spPr>
      </p:sp>
      <p:sp>
        <p:nvSpPr>
          <p:cNvPr id="20" name="Icon circle"/>
          <p:cNvSpPr/>
          <p:nvPr/>
        </p:nvSpPr>
        <p:spPr>
          <a:xfrm>
            <a:off x="777240" y="5623560"/>
            <a:ext cx="548640" cy="548640"/>
          </a:xfrm>
          <a:prstGeom prst="ellipse">
            <a:avLst/>
          </a:prstGeom>
          <a:solidFill>
            <a:schemeClr val="accent3"/>
          </a:solidFill>
          <a:ln/>
        </p:spPr>
      </p:sp>
      <p:pic>
        <p:nvPicPr>
          <p:cNvPr id="21" name="Image 0" descr="icon">    </p:cNvPr>
          <p:cNvPicPr>
            <a:picLocks noChangeAspect="1"/>
          </p:cNvPicPr>
          <p:nvPr/>
        </p:nvPicPr>
        <p:blipFill>
          <a:blip r:embed="rId2"/>
          <a:stretch>
            <a:fillRect/>
          </a:stretch>
        </p:blipFill>
        <p:spPr>
          <a:xfrm>
            <a:off x="914400" y="5760720"/>
            <a:ext cx="274320" cy="274320"/>
          </a:xfrm>
          <a:prstGeom prst="rect">
            <a:avLst/>
          </a:prstGeom>
        </p:spPr>
      </p:pic>
      <p:sp>
        <p:nvSpPr>
          <p:cNvPr id="22" name="Text 18"/>
          <p:cNvSpPr txBox="1"/>
          <p:nvPr/>
        </p:nvSpPr>
        <p:spPr>
          <a:xfrm>
            <a:off x="1554480" y="5550408"/>
            <a:ext cx="45720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BUSINESS INSIGHT</a:t>
            </a:r>
            <a:endParaRPr lang="en-US" sz="1100" dirty="0"/>
          </a:p>
        </p:txBody>
      </p:sp>
      <p:sp>
        <p:nvSpPr>
          <p:cNvPr id="23" name="Insight text"/>
          <p:cNvSpPr txBox="1"/>
          <p:nvPr/>
        </p:nvSpPr>
        <p:spPr>
          <a:xfrm>
            <a:off x="1554480" y="5779008"/>
            <a:ext cx="9875520" cy="502920"/>
          </a:xfrm>
          <a:prstGeom prst="rect">
            <a:avLst/>
          </a:prstGeom>
          <a:noFill/>
          <a:ln/>
        </p:spPr>
        <p:txBody>
          <a:bodyPr wrap="square" lIns="0" tIns="0" rIns="0" bIns="0" rtlCol="0" anchor="t"/>
          <a:lstStyle/>
          <a:p>
            <a:pPr indent="0" marL="0">
              <a:buNone/>
            </a:pPr>
            <a:r>
              <a:rPr lang="en-US" sz="1400" dirty="0">
                <a:solidFill>
                  <a:schemeClr val="tx1"/>
                </a:solidFill>
              </a:rPr>
              <a:t>A dominant leader plus a competitive second tier means switching costs and vendor choice matter. Benchmark against ChatGPT, but keep alternatives in play.</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USE CASES</a:t>
            </a:r>
            <a:endParaRPr lang="en-US" sz="1100" dirty="0"/>
          </a:p>
        </p:txBody>
      </p:sp>
      <p:sp>
        <p:nvSpPr>
          <p:cNvPr id="3" name="Placeholder data tag"/>
          <p:cNvSpPr txBox="1"/>
          <p:nvPr/>
        </p:nvSpPr>
        <p:spPr>
          <a:xfrm>
            <a:off x="8732520" y="274320"/>
            <a:ext cx="2907792"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dirty="0">
                <a:solidFill>
                  <a:schemeClr val="tx1"/>
                </a:solidFill>
              </a:rPr>
              <a:t>ILLUSTRATIVE VALUES · EDIT CHART DATA</a:t>
            </a:r>
            <a:endParaRPr lang="en-US" sz="1000" dirty="0"/>
          </a:p>
        </p:txBody>
      </p:sp>
      <p:sp>
        <p:nvSpPr>
          <p:cNvPr id="4" name="Text 0"/>
          <p:cNvSpPr/>
          <p:nvPr>
            <p:ph idx="100" type="title" hasCustomPrompt="1"/>
          </p:nvPr>
        </p:nvSpPr>
        <p:spPr>
          <a:xfrm>
            <a:off x="548640" y="566928"/>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Coding Is the Top Use Case</a:t>
            </a:r>
            <a:endParaRPr lang="en-US" sz="3600" dirty="0"/>
          </a:p>
        </p:txBody>
      </p:sp>
      <p:sp>
        <p:nvSpPr>
          <p:cNvPr id="5" name="Text 3"/>
          <p:cNvSpPr txBox="1"/>
          <p:nvPr/>
        </p:nvSpPr>
        <p:spPr>
          <a:xfrm>
            <a:off x="548640" y="1554480"/>
            <a:ext cx="6035040" cy="274320"/>
          </a:xfrm>
          <a:prstGeom prst="rect">
            <a:avLst/>
          </a:prstGeom>
          <a:noFill/>
          <a:ln/>
        </p:spPr>
        <p:txBody>
          <a:bodyPr wrap="square" lIns="0" tIns="0" rIns="0" bIns="0" rtlCol="0" anchor="ctr"/>
          <a:lstStyle/>
          <a:p>
            <a:pPr indent="0" marL="0">
              <a:buNone/>
            </a:pPr>
            <a:r>
              <a:rPr lang="en-US" sz="1400" b="1" dirty="0">
                <a:solidFill>
                  <a:schemeClr val="tx2"/>
                </a:solidFill>
              </a:rPr>
              <a:t>AI purpose distribution (share of users)</a:t>
            </a:r>
            <a:endParaRPr lang="en-US" sz="1400" dirty="0"/>
          </a:p>
        </p:txBody>
      </p:sp>
      <p:graphicFrame>
        <p:nvGraphicFramePr>
          <p:cNvPr id="6" name="Chart 0" descr=""/>
          <p:cNvGraphicFramePr/>
          <p:nvPr/>
        </p:nvGraphicFramePr>
        <p:xfrm>
          <a:off x="548640" y="1828800"/>
          <a:ext cx="6035040" cy="3474720"/>
        </p:xfrm>
        <a:graphic xmlns:a="http://schemas.openxmlformats.org/drawingml/2006/main">
          <a:graphicData uri="http://schemas.openxmlformats.org/drawingml/2006/chart">
            <c:chart xmlns:c="http://schemas.openxmlformats.org/drawingml/2006/chart" r:id="rId1"/>
          </a:graphicData>
        </a:graphic>
      </p:graphicFrame>
      <p:sp>
        <p:nvSpPr>
          <p:cNvPr id="7" name="Use case card"/>
          <p:cNvSpPr/>
          <p:nvPr/>
        </p:nvSpPr>
        <p:spPr>
          <a:xfrm>
            <a:off x="7040880" y="1600200"/>
            <a:ext cx="4599432" cy="1097280"/>
          </a:xfrm>
          <a:prstGeom prst="roundRect">
            <a:avLst>
              <a:gd name="adj" fmla="val 10000"/>
            </a:avLst>
          </a:prstGeom>
          <a:solidFill>
            <a:schemeClr val="bg2"/>
          </a:solidFill>
          <a:ln/>
        </p:spPr>
      </p:sp>
      <p:sp>
        <p:nvSpPr>
          <p:cNvPr id="8" name="Text 5"/>
          <p:cNvSpPr txBox="1"/>
          <p:nvPr/>
        </p:nvSpPr>
        <p:spPr>
          <a:xfrm>
            <a:off x="7269480" y="1691640"/>
            <a:ext cx="1234440" cy="914400"/>
          </a:xfrm>
          <a:prstGeom prst="rect">
            <a:avLst/>
          </a:prstGeom>
          <a:noFill/>
          <a:ln/>
        </p:spPr>
        <p:txBody>
          <a:bodyPr wrap="square" lIns="0" tIns="0" rIns="0" bIns="0" rtlCol="0" anchor="ctr"/>
          <a:lstStyle/>
          <a:p>
            <a:pPr indent="0" marL="0">
              <a:buNone/>
            </a:pPr>
            <a:r>
              <a:rPr lang="en-US" sz="3000" b="1" dirty="0">
                <a:solidFill>
                  <a:schemeClr val="accent1"/>
                </a:solidFill>
              </a:rPr>
              <a:t>#1</a:t>
            </a:r>
            <a:endParaRPr lang="en-US" sz="3000" dirty="0"/>
          </a:p>
        </p:txBody>
      </p:sp>
      <p:sp>
        <p:nvSpPr>
          <p:cNvPr id="9" name="Text 6"/>
          <p:cNvSpPr txBox="1"/>
          <p:nvPr/>
        </p:nvSpPr>
        <p:spPr>
          <a:xfrm>
            <a:off x="8595360" y="1783080"/>
            <a:ext cx="2926080" cy="365760"/>
          </a:xfrm>
          <a:prstGeom prst="rect">
            <a:avLst/>
          </a:prstGeom>
          <a:noFill/>
          <a:ln/>
        </p:spPr>
        <p:txBody>
          <a:bodyPr wrap="square" lIns="0" tIns="0" rIns="0" bIns="0" rtlCol="0" anchor="ctr"/>
          <a:lstStyle/>
          <a:p>
            <a:pPr indent="0" marL="0">
              <a:buNone/>
            </a:pPr>
            <a:r>
              <a:rPr lang="en-US" sz="1800" b="1" dirty="0">
                <a:solidFill>
                  <a:schemeClr val="tx1"/>
                </a:solidFill>
              </a:rPr>
              <a:t>Coding</a:t>
            </a:r>
            <a:endParaRPr lang="en-US" sz="1800" dirty="0"/>
          </a:p>
        </p:txBody>
      </p:sp>
      <p:sp>
        <p:nvSpPr>
          <p:cNvPr id="10" name="Text 7"/>
          <p:cNvSpPr txBox="1"/>
          <p:nvPr/>
        </p:nvSpPr>
        <p:spPr>
          <a:xfrm>
            <a:off x="8595360" y="2167128"/>
            <a:ext cx="2926080" cy="411480"/>
          </a:xfrm>
          <a:prstGeom prst="rect">
            <a:avLst/>
          </a:prstGeom>
          <a:noFill/>
          <a:ln/>
        </p:spPr>
        <p:txBody>
          <a:bodyPr wrap="square" lIns="0" tIns="0" rIns="0" bIns="0" rtlCol="0" anchor="t"/>
          <a:lstStyle/>
          <a:p>
            <a:pPr indent="0" marL="0">
              <a:buNone/>
            </a:pPr>
            <a:r>
              <a:rPr lang="en-US" sz="1400" dirty="0">
                <a:solidFill>
                  <a:schemeClr val="tx2"/>
                </a:solidFill>
              </a:rPr>
              <a:t>The most common use case</a:t>
            </a:r>
            <a:endParaRPr lang="en-US" sz="1400" dirty="0"/>
          </a:p>
        </p:txBody>
      </p:sp>
      <p:sp>
        <p:nvSpPr>
          <p:cNvPr id="11" name="Use case card"/>
          <p:cNvSpPr/>
          <p:nvPr/>
        </p:nvSpPr>
        <p:spPr>
          <a:xfrm>
            <a:off x="7040880" y="2880360"/>
            <a:ext cx="4599432" cy="1097280"/>
          </a:xfrm>
          <a:prstGeom prst="roundRect">
            <a:avLst>
              <a:gd name="adj" fmla="val 10000"/>
            </a:avLst>
          </a:prstGeom>
          <a:solidFill>
            <a:schemeClr val="bg2"/>
          </a:solidFill>
          <a:ln/>
        </p:spPr>
      </p:sp>
      <p:sp>
        <p:nvSpPr>
          <p:cNvPr id="12" name="Text 9"/>
          <p:cNvSpPr txBox="1"/>
          <p:nvPr/>
        </p:nvSpPr>
        <p:spPr>
          <a:xfrm>
            <a:off x="7269480" y="2971800"/>
            <a:ext cx="1234440" cy="914400"/>
          </a:xfrm>
          <a:prstGeom prst="rect">
            <a:avLst/>
          </a:prstGeom>
          <a:noFill/>
          <a:ln/>
        </p:spPr>
        <p:txBody>
          <a:bodyPr wrap="square" lIns="0" tIns="0" rIns="0" bIns="0" rtlCol="0" anchor="ctr"/>
          <a:lstStyle/>
          <a:p>
            <a:pPr indent="0" marL="0">
              <a:buNone/>
            </a:pPr>
            <a:r>
              <a:rPr lang="en-US" sz="3000" b="1" dirty="0">
                <a:solidFill>
                  <a:schemeClr val="accent2"/>
                </a:solidFill>
              </a:rPr>
              <a:t>#2–3</a:t>
            </a:r>
            <a:endParaRPr lang="en-US" sz="3000" dirty="0"/>
          </a:p>
        </p:txBody>
      </p:sp>
      <p:sp>
        <p:nvSpPr>
          <p:cNvPr id="13" name="Text 10"/>
          <p:cNvSpPr txBox="1"/>
          <p:nvPr/>
        </p:nvSpPr>
        <p:spPr>
          <a:xfrm>
            <a:off x="8595360" y="3063240"/>
            <a:ext cx="2926080" cy="365760"/>
          </a:xfrm>
          <a:prstGeom prst="rect">
            <a:avLst/>
          </a:prstGeom>
          <a:noFill/>
          <a:ln/>
        </p:spPr>
        <p:txBody>
          <a:bodyPr wrap="square" lIns="0" tIns="0" rIns="0" bIns="0" rtlCol="0" anchor="ctr"/>
          <a:lstStyle/>
          <a:p>
            <a:pPr indent="0" marL="0">
              <a:buNone/>
            </a:pPr>
            <a:r>
              <a:rPr lang="en-US" sz="1800" b="1" dirty="0">
                <a:solidFill>
                  <a:schemeClr val="tx1"/>
                </a:solidFill>
              </a:rPr>
              <a:t>Writing and Studying</a:t>
            </a:r>
            <a:endParaRPr lang="en-US" sz="1800" dirty="0"/>
          </a:p>
        </p:txBody>
      </p:sp>
      <p:sp>
        <p:nvSpPr>
          <p:cNvPr id="14" name="Text 11"/>
          <p:cNvSpPr txBox="1"/>
          <p:nvPr/>
        </p:nvSpPr>
        <p:spPr>
          <a:xfrm>
            <a:off x="8595360" y="3447288"/>
            <a:ext cx="2926080" cy="411480"/>
          </a:xfrm>
          <a:prstGeom prst="rect">
            <a:avLst/>
          </a:prstGeom>
          <a:noFill/>
          <a:ln/>
        </p:spPr>
        <p:txBody>
          <a:bodyPr wrap="square" lIns="0" tIns="0" rIns="0" bIns="0" rtlCol="0" anchor="t"/>
          <a:lstStyle/>
          <a:p>
            <a:pPr indent="0" marL="0">
              <a:buNone/>
            </a:pPr>
            <a:r>
              <a:rPr lang="en-US" sz="1400" dirty="0">
                <a:solidFill>
                  <a:schemeClr val="tx2"/>
                </a:solidFill>
              </a:rPr>
              <a:t>Content creation and learning follow</a:t>
            </a:r>
            <a:endParaRPr lang="en-US" sz="1400" dirty="0"/>
          </a:p>
        </p:txBody>
      </p:sp>
      <p:sp>
        <p:nvSpPr>
          <p:cNvPr id="15" name="Use case card"/>
          <p:cNvSpPr/>
          <p:nvPr/>
        </p:nvSpPr>
        <p:spPr>
          <a:xfrm>
            <a:off x="7040880" y="4160520"/>
            <a:ext cx="4599432" cy="1097280"/>
          </a:xfrm>
          <a:prstGeom prst="roundRect">
            <a:avLst>
              <a:gd name="adj" fmla="val 10000"/>
            </a:avLst>
          </a:prstGeom>
          <a:solidFill>
            <a:schemeClr val="bg2"/>
          </a:solidFill>
          <a:ln/>
        </p:spPr>
      </p:sp>
      <p:sp>
        <p:nvSpPr>
          <p:cNvPr id="16" name="Text 13"/>
          <p:cNvSpPr txBox="1"/>
          <p:nvPr/>
        </p:nvSpPr>
        <p:spPr>
          <a:xfrm>
            <a:off x="7269480" y="4251960"/>
            <a:ext cx="1234440" cy="914400"/>
          </a:xfrm>
          <a:prstGeom prst="rect">
            <a:avLst/>
          </a:prstGeom>
          <a:noFill/>
          <a:ln/>
        </p:spPr>
        <p:txBody>
          <a:bodyPr wrap="square" lIns="0" tIns="0" rIns="0" bIns="0" rtlCol="0" anchor="ctr"/>
          <a:lstStyle/>
          <a:p>
            <a:pPr indent="0" marL="0">
              <a:buNone/>
            </a:pPr>
            <a:r>
              <a:rPr lang="en-US" sz="3000" b="1" dirty="0">
                <a:solidFill>
                  <a:schemeClr val="tx2"/>
                </a:solidFill>
              </a:rPr>
              <a:t>Last</a:t>
            </a:r>
            <a:endParaRPr lang="en-US" sz="3000" dirty="0"/>
          </a:p>
        </p:txBody>
      </p:sp>
      <p:sp>
        <p:nvSpPr>
          <p:cNvPr id="17" name="Text 14"/>
          <p:cNvSpPr txBox="1"/>
          <p:nvPr/>
        </p:nvSpPr>
        <p:spPr>
          <a:xfrm>
            <a:off x="8595360" y="4343400"/>
            <a:ext cx="2926080" cy="365760"/>
          </a:xfrm>
          <a:prstGeom prst="rect">
            <a:avLst/>
          </a:prstGeom>
          <a:noFill/>
          <a:ln/>
        </p:spPr>
        <p:txBody>
          <a:bodyPr wrap="square" lIns="0" tIns="0" rIns="0" bIns="0" rtlCol="0" anchor="ctr"/>
          <a:lstStyle/>
          <a:p>
            <a:pPr indent="0" marL="0">
              <a:buNone/>
            </a:pPr>
            <a:r>
              <a:rPr lang="en-US" sz="1800" b="1" dirty="0">
                <a:solidFill>
                  <a:schemeClr val="tx1"/>
                </a:solidFill>
              </a:rPr>
              <a:t>Office Work</a:t>
            </a:r>
            <a:endParaRPr lang="en-US" sz="1800" dirty="0"/>
          </a:p>
        </p:txBody>
      </p:sp>
      <p:sp>
        <p:nvSpPr>
          <p:cNvPr id="18" name="Text 15"/>
          <p:cNvSpPr txBox="1"/>
          <p:nvPr/>
        </p:nvSpPr>
        <p:spPr>
          <a:xfrm>
            <a:off x="8595360" y="4727448"/>
            <a:ext cx="2926080" cy="411480"/>
          </a:xfrm>
          <a:prstGeom prst="rect">
            <a:avLst/>
          </a:prstGeom>
          <a:noFill/>
          <a:ln/>
        </p:spPr>
        <p:txBody>
          <a:bodyPr wrap="square" lIns="0" tIns="0" rIns="0" bIns="0" rtlCol="0" anchor="t"/>
          <a:lstStyle/>
          <a:p>
            <a:pPr indent="0" marL="0">
              <a:buNone/>
            </a:pPr>
            <a:r>
              <a:rPr lang="en-US" sz="1400" dirty="0">
                <a:solidFill>
                  <a:schemeClr val="tx2"/>
                </a:solidFill>
              </a:rPr>
              <a:t>The least common use case</a:t>
            </a:r>
            <a:endParaRPr lang="en-US" sz="1400" dirty="0"/>
          </a:p>
        </p:txBody>
      </p:sp>
      <p:sp>
        <p:nvSpPr>
          <p:cNvPr id="19" name="Insight card"/>
          <p:cNvSpPr/>
          <p:nvPr/>
        </p:nvSpPr>
        <p:spPr>
          <a:xfrm>
            <a:off x="548640" y="5440680"/>
            <a:ext cx="11091672" cy="914400"/>
          </a:xfrm>
          <a:prstGeom prst="roundRect">
            <a:avLst>
              <a:gd name="adj" fmla="val 12000"/>
            </a:avLst>
          </a:prstGeom>
          <a:solidFill>
            <a:schemeClr val="bg2"/>
          </a:solidFill>
          <a:ln/>
        </p:spPr>
      </p:sp>
      <p:sp>
        <p:nvSpPr>
          <p:cNvPr id="20" name="Icon circle"/>
          <p:cNvSpPr/>
          <p:nvPr/>
        </p:nvSpPr>
        <p:spPr>
          <a:xfrm>
            <a:off x="777240" y="5623560"/>
            <a:ext cx="548640" cy="548640"/>
          </a:xfrm>
          <a:prstGeom prst="ellipse">
            <a:avLst/>
          </a:prstGeom>
          <a:solidFill>
            <a:schemeClr val="accent3"/>
          </a:solidFill>
          <a:ln/>
        </p:spPr>
      </p:sp>
      <p:pic>
        <p:nvPicPr>
          <p:cNvPr id="21" name="Image 0" descr="icon">    </p:cNvPr>
          <p:cNvPicPr>
            <a:picLocks noChangeAspect="1"/>
          </p:cNvPicPr>
          <p:nvPr/>
        </p:nvPicPr>
        <p:blipFill>
          <a:blip r:embed="rId2"/>
          <a:stretch>
            <a:fillRect/>
          </a:stretch>
        </p:blipFill>
        <p:spPr>
          <a:xfrm>
            <a:off x="914400" y="5760720"/>
            <a:ext cx="274320" cy="274320"/>
          </a:xfrm>
          <a:prstGeom prst="rect">
            <a:avLst/>
          </a:prstGeom>
        </p:spPr>
      </p:pic>
      <p:sp>
        <p:nvSpPr>
          <p:cNvPr id="22" name="Text 18"/>
          <p:cNvSpPr txBox="1"/>
          <p:nvPr/>
        </p:nvSpPr>
        <p:spPr>
          <a:xfrm>
            <a:off x="1554480" y="5550408"/>
            <a:ext cx="45720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BUSINESS INSIGHT</a:t>
            </a:r>
            <a:endParaRPr lang="en-US" sz="1100" dirty="0"/>
          </a:p>
        </p:txBody>
      </p:sp>
      <p:sp>
        <p:nvSpPr>
          <p:cNvPr id="23" name="Insight text"/>
          <p:cNvSpPr txBox="1"/>
          <p:nvPr/>
        </p:nvSpPr>
        <p:spPr>
          <a:xfrm>
            <a:off x="1554480" y="5779008"/>
            <a:ext cx="9875520" cy="502920"/>
          </a:xfrm>
          <a:prstGeom prst="rect">
            <a:avLst/>
          </a:prstGeom>
          <a:noFill/>
          <a:ln/>
        </p:spPr>
        <p:txBody>
          <a:bodyPr wrap="square" lIns="0" tIns="0" rIns="0" bIns="0" rtlCol="0" anchor="t"/>
          <a:lstStyle/>
          <a:p>
            <a:pPr indent="0" marL="0">
              <a:buNone/>
            </a:pPr>
            <a:r>
              <a:rPr lang="en-US" sz="1400" dirty="0">
                <a:solidFill>
                  <a:schemeClr val="tx1"/>
                </a:solidFill>
              </a:rPr>
              <a:t>People reach for AI where output is concrete and checkable, such as code, drafts and study aids. Office-work tooling is the least-used opportunity to grow.</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PRODUCTIVITY AND TIME SAVINGS</a:t>
            </a:r>
            <a:endParaRPr lang="en-US" sz="1100" dirty="0"/>
          </a:p>
        </p:txBody>
      </p:sp>
      <p:sp>
        <p:nvSpPr>
          <p:cNvPr id="3" name="Placeholder data tag"/>
          <p:cNvSpPr txBox="1"/>
          <p:nvPr/>
        </p:nvSpPr>
        <p:spPr>
          <a:xfrm>
            <a:off x="8732520" y="274320"/>
            <a:ext cx="2907792"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dirty="0">
                <a:solidFill>
                  <a:schemeClr val="tx1"/>
                </a:solidFill>
              </a:rPr>
              <a:t>ILLUSTRATIVE VALUES · EDIT CHART DATA</a:t>
            </a:r>
            <a:endParaRPr lang="en-US" sz="1000" dirty="0"/>
          </a:p>
        </p:txBody>
      </p:sp>
      <p:sp>
        <p:nvSpPr>
          <p:cNvPr id="4" name="Text 0"/>
          <p:cNvSpPr/>
          <p:nvPr>
            <p:ph idx="100" type="title" hasCustomPrompt="1"/>
          </p:nvPr>
        </p:nvSpPr>
        <p:spPr>
          <a:xfrm>
            <a:off x="548640" y="566928"/>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Heavy Users Gain More</a:t>
            </a:r>
            <a:endParaRPr lang="en-US" sz="3600" dirty="0"/>
          </a:p>
        </p:txBody>
      </p:sp>
      <p:sp>
        <p:nvSpPr>
          <p:cNvPr id="5" name="Chart card"/>
          <p:cNvSpPr/>
          <p:nvPr/>
        </p:nvSpPr>
        <p:spPr>
          <a:xfrm>
            <a:off x="548640" y="1600200"/>
            <a:ext cx="5394960" cy="3611880"/>
          </a:xfrm>
          <a:prstGeom prst="roundRect">
            <a:avLst>
              <a:gd name="adj" fmla="val 3038"/>
            </a:avLst>
          </a:prstGeom>
          <a:solidFill>
            <a:schemeClr val="bg2"/>
          </a:solidFill>
          <a:ln/>
        </p:spPr>
      </p:sp>
      <p:sp>
        <p:nvSpPr>
          <p:cNvPr id="6" name="Text 4"/>
          <p:cNvSpPr txBox="1"/>
          <p:nvPr/>
        </p:nvSpPr>
        <p:spPr>
          <a:xfrm>
            <a:off x="822960" y="1737360"/>
            <a:ext cx="4846320" cy="365760"/>
          </a:xfrm>
          <a:prstGeom prst="rect">
            <a:avLst/>
          </a:prstGeom>
          <a:noFill/>
          <a:ln/>
        </p:spPr>
        <p:txBody>
          <a:bodyPr wrap="square" lIns="0" tIns="0" rIns="0" bIns="0" rtlCol="0" anchor="ctr"/>
          <a:lstStyle/>
          <a:p>
            <a:pPr indent="0" marL="0">
              <a:buNone/>
            </a:pPr>
            <a:r>
              <a:rPr lang="en-US" sz="1800" b="1" dirty="0">
                <a:solidFill>
                  <a:schemeClr val="tx1"/>
                </a:solidFill>
              </a:rPr>
              <a:t>Productivity score</a:t>
            </a:r>
            <a:endParaRPr lang="en-US" sz="1800" dirty="0"/>
          </a:p>
        </p:txBody>
      </p:sp>
      <p:sp>
        <p:nvSpPr>
          <p:cNvPr id="7" name="Text 5"/>
          <p:cNvSpPr txBox="1"/>
          <p:nvPr/>
        </p:nvSpPr>
        <p:spPr>
          <a:xfrm>
            <a:off x="822960" y="2103120"/>
            <a:ext cx="4846320" cy="274320"/>
          </a:xfrm>
          <a:prstGeom prst="rect">
            <a:avLst/>
          </a:prstGeom>
          <a:noFill/>
          <a:ln/>
        </p:spPr>
        <p:txBody>
          <a:bodyPr wrap="square" lIns="0" tIns="0" rIns="0" bIns="0" rtlCol="0" anchor="ctr"/>
          <a:lstStyle/>
          <a:p>
            <a:pPr indent="0" marL="0">
              <a:buNone/>
            </a:pPr>
            <a:r>
              <a:rPr lang="en-US" sz="1200" dirty="0">
                <a:solidFill>
                  <a:schemeClr val="tx2"/>
                </a:solidFill>
              </a:rPr>
              <a:t>Average, by AI user type</a:t>
            </a:r>
            <a:endParaRPr lang="en-US" sz="1200" dirty="0"/>
          </a:p>
        </p:txBody>
      </p:sp>
      <p:graphicFrame>
        <p:nvGraphicFramePr>
          <p:cNvPr id="8" name="Chart 0" descr=""/>
          <p:cNvGraphicFramePr/>
          <p:nvPr/>
        </p:nvGraphicFramePr>
        <p:xfrm>
          <a:off x="731520" y="2423160"/>
          <a:ext cx="5029200" cy="2697480"/>
        </p:xfrm>
        <a:graphic xmlns:a="http://schemas.openxmlformats.org/drawingml/2006/main">
          <a:graphicData uri="http://schemas.openxmlformats.org/drawingml/2006/chart">
            <c:chart xmlns:c="http://schemas.openxmlformats.org/drawingml/2006/chart" r:id="rId1"/>
          </a:graphicData>
        </a:graphic>
      </p:graphicFrame>
      <p:sp>
        <p:nvSpPr>
          <p:cNvPr id="9" name="Chart card"/>
          <p:cNvSpPr/>
          <p:nvPr/>
        </p:nvSpPr>
        <p:spPr>
          <a:xfrm>
            <a:off x="6245352" y="1600200"/>
            <a:ext cx="5394960" cy="3611880"/>
          </a:xfrm>
          <a:prstGeom prst="roundRect">
            <a:avLst>
              <a:gd name="adj" fmla="val 3038"/>
            </a:avLst>
          </a:prstGeom>
          <a:solidFill>
            <a:schemeClr val="bg2"/>
          </a:solidFill>
          <a:ln/>
        </p:spPr>
      </p:sp>
      <p:sp>
        <p:nvSpPr>
          <p:cNvPr id="10" name="Text 7"/>
          <p:cNvSpPr txBox="1"/>
          <p:nvPr/>
        </p:nvSpPr>
        <p:spPr>
          <a:xfrm>
            <a:off x="6519672" y="1737360"/>
            <a:ext cx="4846320" cy="365760"/>
          </a:xfrm>
          <a:prstGeom prst="rect">
            <a:avLst/>
          </a:prstGeom>
          <a:noFill/>
          <a:ln/>
        </p:spPr>
        <p:txBody>
          <a:bodyPr wrap="square" lIns="0" tIns="0" rIns="0" bIns="0" rtlCol="0" anchor="ctr"/>
          <a:lstStyle/>
          <a:p>
            <a:pPr indent="0" marL="0">
              <a:buNone/>
            </a:pPr>
            <a:r>
              <a:rPr lang="en-US" sz="1800" b="1" dirty="0">
                <a:solidFill>
                  <a:schemeClr val="tx1"/>
                </a:solidFill>
              </a:rPr>
              <a:t>Time saved</a:t>
            </a:r>
            <a:endParaRPr lang="en-US" sz="1800" dirty="0"/>
          </a:p>
        </p:txBody>
      </p:sp>
      <p:sp>
        <p:nvSpPr>
          <p:cNvPr id="11" name="Text 8"/>
          <p:cNvSpPr txBox="1"/>
          <p:nvPr/>
        </p:nvSpPr>
        <p:spPr>
          <a:xfrm>
            <a:off x="6519672" y="2103120"/>
            <a:ext cx="4846320" cy="274320"/>
          </a:xfrm>
          <a:prstGeom prst="rect">
            <a:avLst/>
          </a:prstGeom>
          <a:noFill/>
          <a:ln/>
        </p:spPr>
        <p:txBody>
          <a:bodyPr wrap="square" lIns="0" tIns="0" rIns="0" bIns="0" rtlCol="0" anchor="ctr"/>
          <a:lstStyle/>
          <a:p>
            <a:pPr indent="0" marL="0">
              <a:buNone/>
            </a:pPr>
            <a:r>
              <a:rPr lang="en-US" sz="1200" dirty="0">
                <a:solidFill>
                  <a:schemeClr val="tx2"/>
                </a:solidFill>
              </a:rPr>
              <a:t>Average, by AI user type</a:t>
            </a:r>
            <a:endParaRPr lang="en-US" sz="1200" dirty="0"/>
          </a:p>
        </p:txBody>
      </p:sp>
      <p:graphicFrame>
        <p:nvGraphicFramePr>
          <p:cNvPr id="12" name="Chart 1" descr=""/>
          <p:cNvGraphicFramePr/>
          <p:nvPr/>
        </p:nvGraphicFramePr>
        <p:xfrm>
          <a:off x="6428232" y="2423160"/>
          <a:ext cx="5029200" cy="2697480"/>
        </p:xfrm>
        <a:graphic xmlns:a="http://schemas.openxmlformats.org/drawingml/2006/main">
          <a:graphicData uri="http://schemas.openxmlformats.org/drawingml/2006/chart">
            <c:chart xmlns:c="http://schemas.openxmlformats.org/drawingml/2006/chart" r:id="rId2"/>
          </a:graphicData>
        </a:graphic>
      </p:graphicFrame>
      <p:sp>
        <p:nvSpPr>
          <p:cNvPr id="13" name="Insight card"/>
          <p:cNvSpPr/>
          <p:nvPr/>
        </p:nvSpPr>
        <p:spPr>
          <a:xfrm>
            <a:off x="548640" y="5440680"/>
            <a:ext cx="11091672" cy="914400"/>
          </a:xfrm>
          <a:prstGeom prst="roundRect">
            <a:avLst>
              <a:gd name="adj" fmla="val 12000"/>
            </a:avLst>
          </a:prstGeom>
          <a:solidFill>
            <a:schemeClr val="bg2"/>
          </a:solidFill>
          <a:ln/>
        </p:spPr>
      </p:sp>
      <p:sp>
        <p:nvSpPr>
          <p:cNvPr id="14" name="Icon circle"/>
          <p:cNvSpPr/>
          <p:nvPr/>
        </p:nvSpPr>
        <p:spPr>
          <a:xfrm>
            <a:off x="777240" y="5623560"/>
            <a:ext cx="548640" cy="548640"/>
          </a:xfrm>
          <a:prstGeom prst="ellipse">
            <a:avLst/>
          </a:prstGeom>
          <a:solidFill>
            <a:schemeClr val="accent3"/>
          </a:solidFill>
          <a:ln/>
        </p:spPr>
      </p:sp>
      <p:pic>
        <p:nvPicPr>
          <p:cNvPr id="15" name="Image 0" descr="icon">    </p:cNvPr>
          <p:cNvPicPr>
            <a:picLocks noChangeAspect="1"/>
          </p:cNvPicPr>
          <p:nvPr/>
        </p:nvPicPr>
        <p:blipFill>
          <a:blip r:embed="rId3"/>
          <a:stretch>
            <a:fillRect/>
          </a:stretch>
        </p:blipFill>
        <p:spPr>
          <a:xfrm>
            <a:off x="914400" y="5760720"/>
            <a:ext cx="274320" cy="274320"/>
          </a:xfrm>
          <a:prstGeom prst="rect">
            <a:avLst/>
          </a:prstGeom>
        </p:spPr>
      </p:pic>
      <p:sp>
        <p:nvSpPr>
          <p:cNvPr id="16" name="Text 11"/>
          <p:cNvSpPr txBox="1"/>
          <p:nvPr/>
        </p:nvSpPr>
        <p:spPr>
          <a:xfrm>
            <a:off x="1554480" y="5550408"/>
            <a:ext cx="45720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BUSINESS INSIGHT</a:t>
            </a:r>
            <a:endParaRPr lang="en-US" sz="1100" dirty="0"/>
          </a:p>
        </p:txBody>
      </p:sp>
      <p:sp>
        <p:nvSpPr>
          <p:cNvPr id="17" name="Insight text"/>
          <p:cNvSpPr txBox="1"/>
          <p:nvPr/>
        </p:nvSpPr>
        <p:spPr>
          <a:xfrm>
            <a:off x="1554480" y="5779008"/>
            <a:ext cx="9875520" cy="502920"/>
          </a:xfrm>
          <a:prstGeom prst="rect">
            <a:avLst/>
          </a:prstGeom>
          <a:noFill/>
          <a:ln/>
        </p:spPr>
        <p:txBody>
          <a:bodyPr wrap="square" lIns="0" tIns="0" rIns="0" bIns="0" rtlCol="0" anchor="t"/>
          <a:lstStyle/>
          <a:p>
            <a:pPr indent="0" marL="0">
              <a:buNone/>
            </a:pPr>
            <a:r>
              <a:rPr lang="en-US" sz="1400" dirty="0">
                <a:solidFill>
                  <a:schemeClr val="tx1"/>
                </a:solidFill>
              </a:rPr>
              <a:t>Heavy users report significantly higher productivity and save substantially more time. Caveat: this is correlation, since motivated users may both use AI more and benefit more.</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STATISTICAL FINDINGS</a:t>
            </a:r>
            <a:endParaRPr lang="en-US" sz="1100" dirty="0"/>
          </a:p>
        </p:txBody>
      </p:sp>
      <p:sp>
        <p:nvSpPr>
          <p:cNvPr id="3" name="Text 0"/>
          <p:cNvSpPr/>
          <p:nvPr>
            <p:ph idx="100" type="title" hasCustomPrompt="1"/>
          </p:nvPr>
        </p:nvSpPr>
        <p:spPr>
          <a:xfrm>
            <a:off x="548640" y="566928"/>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Statistical Findings</a:t>
            </a:r>
            <a:endParaRPr lang="en-US" sz="3600" dirty="0"/>
          </a:p>
        </p:txBody>
      </p:sp>
      <p:sp>
        <p:nvSpPr>
          <p:cNvPr id="4" name="Test card"/>
          <p:cNvSpPr/>
          <p:nvPr/>
        </p:nvSpPr>
        <p:spPr>
          <a:xfrm>
            <a:off x="548640" y="1600200"/>
            <a:ext cx="5440680" cy="3611880"/>
          </a:xfrm>
          <a:prstGeom prst="roundRect">
            <a:avLst>
              <a:gd name="adj" fmla="val 3038"/>
            </a:avLst>
          </a:prstGeom>
          <a:solidFill>
            <a:schemeClr val="bg1"/>
          </a:solidFill>
          <a:ln/>
          <a:effectLst>
            <a:outerShdw sx="100000" sy="100000" kx="0" ky="0" algn="bl" rotWithShape="0" blurRad="101600" dist="25400" dir="5400000">
              <a:srgbClr val="94A3B8">
                <a:alpha val="25000"/>
              </a:srgbClr>
            </a:outerShdw>
          </a:effectLst>
        </p:spPr>
      </p:sp>
      <p:sp>
        <p:nvSpPr>
          <p:cNvPr id="5" name="Icon circle"/>
          <p:cNvSpPr/>
          <p:nvPr/>
        </p:nvSpPr>
        <p:spPr>
          <a:xfrm>
            <a:off x="822960" y="1828800"/>
            <a:ext cx="594360" cy="594360"/>
          </a:xfrm>
          <a:prstGeom prst="ellipse">
            <a:avLst/>
          </a:prstGeom>
          <a:solidFill>
            <a:schemeClr val="accent1"/>
          </a:solidFill>
          <a:ln/>
        </p:spPr>
      </p:sp>
      <p:pic>
        <p:nvPicPr>
          <p:cNvPr id="6" name="Image 0" descr="icon">    </p:cNvPr>
          <p:cNvPicPr>
            <a:picLocks noChangeAspect="1"/>
          </p:cNvPicPr>
          <p:nvPr/>
        </p:nvPicPr>
        <p:blipFill>
          <a:blip r:embed="rId1"/>
          <a:stretch>
            <a:fillRect/>
          </a:stretch>
        </p:blipFill>
        <p:spPr>
          <a:xfrm>
            <a:off x="971550" y="1977390"/>
            <a:ext cx="297180" cy="297180"/>
          </a:xfrm>
          <a:prstGeom prst="rect">
            <a:avLst/>
          </a:prstGeom>
        </p:spPr>
      </p:pic>
      <p:sp>
        <p:nvSpPr>
          <p:cNvPr id="7" name="Text 4"/>
          <p:cNvSpPr txBox="1"/>
          <p:nvPr/>
        </p:nvSpPr>
        <p:spPr>
          <a:xfrm>
            <a:off x="1645920" y="1828800"/>
            <a:ext cx="4114800" cy="594360"/>
          </a:xfrm>
          <a:prstGeom prst="rect">
            <a:avLst/>
          </a:prstGeom>
          <a:noFill/>
          <a:ln/>
        </p:spPr>
        <p:txBody>
          <a:bodyPr wrap="square" lIns="0" tIns="0" rIns="0" bIns="0" rtlCol="0" anchor="ctr"/>
          <a:lstStyle/>
          <a:p>
            <a:pPr indent="0" marL="0">
              <a:buNone/>
            </a:pPr>
            <a:r>
              <a:rPr lang="en-US" sz="2200" b="1" dirty="0">
                <a:solidFill>
                  <a:schemeClr val="tx1"/>
                </a:solidFill>
              </a:rPr>
              <a:t>Mann-Whitney U Test</a:t>
            </a:r>
            <a:endParaRPr lang="en-US" sz="2200" dirty="0"/>
          </a:p>
        </p:txBody>
      </p:sp>
      <p:sp>
        <p:nvSpPr>
          <p:cNvPr id="8" name="Text 5"/>
          <p:cNvSpPr txBox="1"/>
          <p:nvPr/>
        </p:nvSpPr>
        <p:spPr>
          <a:xfrm>
            <a:off x="822960" y="2697480"/>
            <a:ext cx="4846320" cy="228600"/>
          </a:xfrm>
          <a:prstGeom prst="rect">
            <a:avLst/>
          </a:prstGeom>
          <a:noFill/>
          <a:ln/>
        </p:spPr>
        <p:txBody>
          <a:bodyPr wrap="square" lIns="0" tIns="0" rIns="0" bIns="0" rtlCol="0" anchor="ctr"/>
          <a:lstStyle/>
          <a:p>
            <a:pPr indent="0" marL="0">
              <a:buNone/>
            </a:pPr>
            <a:r>
              <a:rPr lang="en-US" sz="1100" b="1" spc="200" kern="0" dirty="0">
                <a:solidFill>
                  <a:schemeClr val="accent5"/>
                </a:solidFill>
              </a:rPr>
              <a:t>THE QUESTION</a:t>
            </a:r>
            <a:endParaRPr lang="en-US" sz="1100" dirty="0"/>
          </a:p>
        </p:txBody>
      </p:sp>
      <p:sp>
        <p:nvSpPr>
          <p:cNvPr id="9" name="Text 6"/>
          <p:cNvSpPr txBox="1"/>
          <p:nvPr/>
        </p:nvSpPr>
        <p:spPr>
          <a:xfrm>
            <a:off x="822960" y="2944368"/>
            <a:ext cx="4892040" cy="594360"/>
          </a:xfrm>
          <a:prstGeom prst="rect">
            <a:avLst/>
          </a:prstGeom>
          <a:noFill/>
          <a:ln/>
        </p:spPr>
        <p:txBody>
          <a:bodyPr wrap="square" lIns="0" tIns="0" rIns="0" bIns="0" rtlCol="0" anchor="t"/>
          <a:lstStyle/>
          <a:p>
            <a:pPr indent="0" marL="0">
              <a:buNone/>
            </a:pPr>
            <a:r>
              <a:rPr lang="en-US" sz="1500" dirty="0">
                <a:solidFill>
                  <a:schemeClr val="tx2"/>
                </a:solidFill>
              </a:rPr>
              <a:t>Do heavy AI users report different productivity from other users?</a:t>
            </a:r>
            <a:endParaRPr lang="en-US" sz="1500" dirty="0"/>
          </a:p>
        </p:txBody>
      </p:sp>
      <p:sp>
        <p:nvSpPr>
          <p:cNvPr id="10" name="Result badge"/>
          <p:cNvSpPr txBox="1"/>
          <p:nvPr/>
        </p:nvSpPr>
        <p:spPr>
          <a:xfrm>
            <a:off x="822960" y="3657600"/>
            <a:ext cx="265176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spc="100" kern="0" dirty="0">
                <a:solidFill>
                  <a:schemeClr val="tx1"/>
                </a:solidFill>
              </a:rPr>
              <a:t>SIGNIFICANT DIFFERENCE</a:t>
            </a:r>
            <a:endParaRPr lang="en-US" sz="1100" dirty="0"/>
          </a:p>
        </p:txBody>
      </p:sp>
      <p:sp>
        <p:nvSpPr>
          <p:cNvPr id="11" name="Text 8"/>
          <p:cNvSpPr txBox="1"/>
          <p:nvPr/>
        </p:nvSpPr>
        <p:spPr>
          <a:xfrm>
            <a:off x="822960" y="4114800"/>
            <a:ext cx="4892040" cy="914400"/>
          </a:xfrm>
          <a:prstGeom prst="rect">
            <a:avLst/>
          </a:prstGeom>
          <a:noFill/>
          <a:ln/>
        </p:spPr>
        <p:txBody>
          <a:bodyPr wrap="square" lIns="0" tIns="0" rIns="0" bIns="0" rtlCol="0" anchor="t"/>
          <a:lstStyle/>
          <a:p>
            <a:pPr indent="0" marL="0">
              <a:buNone/>
            </a:pPr>
            <a:r>
              <a:rPr lang="en-US" sz="1800" b="1" dirty="0">
                <a:solidFill>
                  <a:schemeClr val="tx1"/>
                </a:solidFill>
              </a:rPr>
              <a:t>Heavy AI users achieve significantly higher productivity.</a:t>
            </a:r>
            <a:endParaRPr lang="en-US" sz="1800" dirty="0"/>
          </a:p>
        </p:txBody>
      </p:sp>
      <p:sp>
        <p:nvSpPr>
          <p:cNvPr id="12" name="Test card"/>
          <p:cNvSpPr/>
          <p:nvPr/>
        </p:nvSpPr>
        <p:spPr>
          <a:xfrm>
            <a:off x="6199632" y="1600200"/>
            <a:ext cx="5440680" cy="3611880"/>
          </a:xfrm>
          <a:prstGeom prst="roundRect">
            <a:avLst>
              <a:gd name="adj" fmla="val 3038"/>
            </a:avLst>
          </a:prstGeom>
          <a:solidFill>
            <a:schemeClr val="bg1"/>
          </a:solidFill>
          <a:ln/>
          <a:effectLst>
            <a:outerShdw sx="100000" sy="100000" kx="0" ky="0" algn="bl" rotWithShape="0" blurRad="101600" dist="25400" dir="5400000">
              <a:srgbClr val="94A3B8">
                <a:alpha val="25000"/>
              </a:srgbClr>
            </a:outerShdw>
          </a:effectLst>
        </p:spPr>
      </p:sp>
      <p:sp>
        <p:nvSpPr>
          <p:cNvPr id="13" name="Icon circle"/>
          <p:cNvSpPr/>
          <p:nvPr/>
        </p:nvSpPr>
        <p:spPr>
          <a:xfrm>
            <a:off x="6473952" y="1828800"/>
            <a:ext cx="594360" cy="594360"/>
          </a:xfrm>
          <a:prstGeom prst="ellipse">
            <a:avLst/>
          </a:prstGeom>
          <a:solidFill>
            <a:schemeClr val="accent4"/>
          </a:solidFill>
          <a:ln/>
        </p:spPr>
      </p:sp>
      <p:pic>
        <p:nvPicPr>
          <p:cNvPr id="14" name="Image 1" descr="icon">    </p:cNvPr>
          <p:cNvPicPr>
            <a:picLocks noChangeAspect="1"/>
          </p:cNvPicPr>
          <p:nvPr/>
        </p:nvPicPr>
        <p:blipFill>
          <a:blip r:embed="rId2"/>
          <a:stretch>
            <a:fillRect/>
          </a:stretch>
        </p:blipFill>
        <p:spPr>
          <a:xfrm>
            <a:off x="6622542" y="1977390"/>
            <a:ext cx="297180" cy="297180"/>
          </a:xfrm>
          <a:prstGeom prst="rect">
            <a:avLst/>
          </a:prstGeom>
        </p:spPr>
      </p:pic>
      <p:sp>
        <p:nvSpPr>
          <p:cNvPr id="15" name="Text 11"/>
          <p:cNvSpPr txBox="1"/>
          <p:nvPr/>
        </p:nvSpPr>
        <p:spPr>
          <a:xfrm>
            <a:off x="7296912" y="1828800"/>
            <a:ext cx="4114800" cy="594360"/>
          </a:xfrm>
          <a:prstGeom prst="rect">
            <a:avLst/>
          </a:prstGeom>
          <a:noFill/>
          <a:ln/>
        </p:spPr>
        <p:txBody>
          <a:bodyPr wrap="square" lIns="0" tIns="0" rIns="0" bIns="0" rtlCol="0" anchor="ctr"/>
          <a:lstStyle/>
          <a:p>
            <a:pPr indent="0" marL="0">
              <a:buNone/>
            </a:pPr>
            <a:r>
              <a:rPr lang="en-US" sz="2200" b="1" dirty="0">
                <a:solidFill>
                  <a:schemeClr val="tx1"/>
                </a:solidFill>
              </a:rPr>
              <a:t>Chi-Square Test</a:t>
            </a:r>
            <a:endParaRPr lang="en-US" sz="2200" dirty="0"/>
          </a:p>
        </p:txBody>
      </p:sp>
      <p:sp>
        <p:nvSpPr>
          <p:cNvPr id="16" name="Text 12"/>
          <p:cNvSpPr txBox="1"/>
          <p:nvPr/>
        </p:nvSpPr>
        <p:spPr>
          <a:xfrm>
            <a:off x="6473952" y="2697480"/>
            <a:ext cx="4846320" cy="228600"/>
          </a:xfrm>
          <a:prstGeom prst="rect">
            <a:avLst/>
          </a:prstGeom>
          <a:noFill/>
          <a:ln/>
        </p:spPr>
        <p:txBody>
          <a:bodyPr wrap="square" lIns="0" tIns="0" rIns="0" bIns="0" rtlCol="0" anchor="ctr"/>
          <a:lstStyle/>
          <a:p>
            <a:pPr indent="0" marL="0">
              <a:buNone/>
            </a:pPr>
            <a:r>
              <a:rPr lang="en-US" sz="1100" b="1" spc="200" kern="0" dirty="0">
                <a:solidFill>
                  <a:schemeClr val="accent5"/>
                </a:solidFill>
              </a:rPr>
              <a:t>THE QUESTION</a:t>
            </a:r>
            <a:endParaRPr lang="en-US" sz="1100" dirty="0"/>
          </a:p>
        </p:txBody>
      </p:sp>
      <p:sp>
        <p:nvSpPr>
          <p:cNvPr id="17" name="Text 13"/>
          <p:cNvSpPr txBox="1"/>
          <p:nvPr/>
        </p:nvSpPr>
        <p:spPr>
          <a:xfrm>
            <a:off x="6473952" y="2944368"/>
            <a:ext cx="4892040" cy="594360"/>
          </a:xfrm>
          <a:prstGeom prst="rect">
            <a:avLst/>
          </a:prstGeom>
          <a:noFill/>
          <a:ln/>
        </p:spPr>
        <p:txBody>
          <a:bodyPr wrap="square" lIns="0" tIns="0" rIns="0" bIns="0" rtlCol="0" anchor="t"/>
          <a:lstStyle/>
          <a:p>
            <a:pPr indent="0" marL="0">
              <a:buNone/>
            </a:pPr>
            <a:r>
              <a:rPr lang="en-US" sz="1500" dirty="0">
                <a:solidFill>
                  <a:schemeClr val="tx2"/>
                </a:solidFill>
              </a:rPr>
              <a:t>Is heavy AI spending linked to a particular AI purpose?</a:t>
            </a:r>
            <a:endParaRPr lang="en-US" sz="1500" dirty="0"/>
          </a:p>
        </p:txBody>
      </p:sp>
      <p:sp>
        <p:nvSpPr>
          <p:cNvPr id="18" name="Result badge"/>
          <p:cNvSpPr txBox="1"/>
          <p:nvPr/>
        </p:nvSpPr>
        <p:spPr>
          <a:xfrm>
            <a:off x="6473952" y="3657600"/>
            <a:ext cx="2651760" cy="347472"/>
          </a:xfrm>
          <a:prstGeom prst="roundRect">
            <a:avLst>
              <a:gd name="adj" fmla="val 50000"/>
            </a:avLst>
          </a:prstGeom>
          <a:solidFill>
            <a:schemeClr val="accent5"/>
          </a:solidFill>
          <a:ln/>
        </p:spPr>
        <p:txBody>
          <a:bodyPr wrap="square" lIns="0" tIns="0" rIns="0" bIns="0" rtlCol="0" anchor="ctr"/>
          <a:lstStyle/>
          <a:p>
            <a:pPr algn="ctr" indent="0" marL="0">
              <a:buNone/>
            </a:pPr>
            <a:r>
              <a:rPr lang="en-US" sz="1100" b="1" spc="100" kern="0" dirty="0">
                <a:solidFill>
                  <a:schemeClr val="tx1"/>
                </a:solidFill>
              </a:rPr>
              <a:t>NO ASSOCIATION</a:t>
            </a:r>
            <a:endParaRPr lang="en-US" sz="1100" dirty="0"/>
          </a:p>
        </p:txBody>
      </p:sp>
      <p:sp>
        <p:nvSpPr>
          <p:cNvPr id="19" name="Text 15"/>
          <p:cNvSpPr txBox="1"/>
          <p:nvPr/>
        </p:nvSpPr>
        <p:spPr>
          <a:xfrm>
            <a:off x="6473952" y="4114800"/>
            <a:ext cx="4892040" cy="914400"/>
          </a:xfrm>
          <a:prstGeom prst="rect">
            <a:avLst/>
          </a:prstGeom>
          <a:noFill/>
          <a:ln/>
        </p:spPr>
        <p:txBody>
          <a:bodyPr wrap="square" lIns="0" tIns="0" rIns="0" bIns="0" rtlCol="0" anchor="t"/>
          <a:lstStyle/>
          <a:p>
            <a:pPr indent="0" marL="0">
              <a:buNone/>
            </a:pPr>
            <a:r>
              <a:rPr lang="en-US" sz="1800" b="1" dirty="0">
                <a:solidFill>
                  <a:schemeClr val="tx1"/>
                </a:solidFill>
              </a:rPr>
              <a:t>Heavy AI spending is not associated with a specific AI purpose.</a:t>
            </a:r>
            <a:endParaRPr lang="en-US" sz="1800" dirty="0"/>
          </a:p>
        </p:txBody>
      </p:sp>
      <p:sp>
        <p:nvSpPr>
          <p:cNvPr id="20" name="Insight card"/>
          <p:cNvSpPr/>
          <p:nvPr/>
        </p:nvSpPr>
        <p:spPr>
          <a:xfrm>
            <a:off x="548640" y="5440680"/>
            <a:ext cx="11091672" cy="914400"/>
          </a:xfrm>
          <a:prstGeom prst="roundRect">
            <a:avLst>
              <a:gd name="adj" fmla="val 12000"/>
            </a:avLst>
          </a:prstGeom>
          <a:solidFill>
            <a:schemeClr val="bg2"/>
          </a:solidFill>
          <a:ln/>
        </p:spPr>
      </p:sp>
      <p:sp>
        <p:nvSpPr>
          <p:cNvPr id="21" name="Icon circle"/>
          <p:cNvSpPr/>
          <p:nvPr/>
        </p:nvSpPr>
        <p:spPr>
          <a:xfrm>
            <a:off x="777240" y="5623560"/>
            <a:ext cx="548640" cy="548640"/>
          </a:xfrm>
          <a:prstGeom prst="ellipse">
            <a:avLst/>
          </a:prstGeom>
          <a:solidFill>
            <a:schemeClr val="accent3"/>
          </a:solidFill>
          <a:ln/>
        </p:spPr>
      </p:sp>
      <p:pic>
        <p:nvPicPr>
          <p:cNvPr id="22" name="Image 2" descr="icon">    </p:cNvPr>
          <p:cNvPicPr>
            <a:picLocks noChangeAspect="1"/>
          </p:cNvPicPr>
          <p:nvPr/>
        </p:nvPicPr>
        <p:blipFill>
          <a:blip r:embed="rId3"/>
          <a:stretch>
            <a:fillRect/>
          </a:stretch>
        </p:blipFill>
        <p:spPr>
          <a:xfrm>
            <a:off x="914400" y="5760720"/>
            <a:ext cx="274320" cy="274320"/>
          </a:xfrm>
          <a:prstGeom prst="rect">
            <a:avLst/>
          </a:prstGeom>
        </p:spPr>
      </p:pic>
      <p:sp>
        <p:nvSpPr>
          <p:cNvPr id="23" name="Text 18"/>
          <p:cNvSpPr txBox="1"/>
          <p:nvPr/>
        </p:nvSpPr>
        <p:spPr>
          <a:xfrm>
            <a:off x="1554480" y="5550408"/>
            <a:ext cx="45720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BUSINESS INSIGHT</a:t>
            </a:r>
            <a:endParaRPr lang="en-US" sz="1100" dirty="0"/>
          </a:p>
        </p:txBody>
      </p:sp>
      <p:sp>
        <p:nvSpPr>
          <p:cNvPr id="24" name="Insight text"/>
          <p:cNvSpPr txBox="1"/>
          <p:nvPr/>
        </p:nvSpPr>
        <p:spPr>
          <a:xfrm>
            <a:off x="1554480" y="5779008"/>
            <a:ext cx="9875520" cy="502920"/>
          </a:xfrm>
          <a:prstGeom prst="rect">
            <a:avLst/>
          </a:prstGeom>
          <a:noFill/>
          <a:ln/>
        </p:spPr>
        <p:txBody>
          <a:bodyPr wrap="square" lIns="0" tIns="0" rIns="0" bIns="0" rtlCol="0" anchor="t"/>
          <a:lstStyle/>
          <a:p>
            <a:pPr indent="0" marL="0">
              <a:buNone/>
            </a:pPr>
            <a:r>
              <a:rPr lang="en-US" sz="1400" dirty="0">
                <a:solidFill>
                  <a:schemeClr val="tx1"/>
                </a:solidFill>
              </a:rPr>
              <a:t>Productivity gains are real, but spending is not a signal of value: heavy spenders are not concentrated in any one purpose, so spend alone says little about outcomes.</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MACHINE LEARNING</a:t>
            </a:r>
            <a:endParaRPr lang="en-US" sz="1100" dirty="0"/>
          </a:p>
        </p:txBody>
      </p:sp>
      <p:sp>
        <p:nvSpPr>
          <p:cNvPr id="3" name="Text 0"/>
          <p:cNvSpPr/>
          <p:nvPr>
            <p:ph idx="100" type="title" hasCustomPrompt="1"/>
          </p:nvPr>
        </p:nvSpPr>
        <p:spPr>
          <a:xfrm>
            <a:off x="548640" y="566928"/>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Predicting Satisfaction</a:t>
            </a:r>
            <a:endParaRPr lang="en-US" sz="3600" dirty="0"/>
          </a:p>
        </p:txBody>
      </p:sp>
      <p:sp>
        <p:nvSpPr>
          <p:cNvPr id="4" name="Model card baseline"/>
          <p:cNvSpPr/>
          <p:nvPr/>
        </p:nvSpPr>
        <p:spPr>
          <a:xfrm>
            <a:off x="548640" y="1600200"/>
            <a:ext cx="4937760" cy="1600200"/>
          </a:xfrm>
          <a:prstGeom prst="roundRect">
            <a:avLst>
              <a:gd name="adj" fmla="val 6857"/>
            </a:avLst>
          </a:prstGeom>
          <a:solidFill>
            <a:schemeClr val="bg2"/>
          </a:solidFill>
          <a:ln/>
        </p:spPr>
      </p:sp>
      <p:sp>
        <p:nvSpPr>
          <p:cNvPr id="5" name="Icon circle"/>
          <p:cNvSpPr/>
          <p:nvPr/>
        </p:nvSpPr>
        <p:spPr>
          <a:xfrm>
            <a:off x="822960" y="1828800"/>
            <a:ext cx="548640" cy="548640"/>
          </a:xfrm>
          <a:prstGeom prst="ellipse">
            <a:avLst/>
          </a:prstGeom>
          <a:solidFill>
            <a:schemeClr val="accent5"/>
          </a:solidFill>
          <a:ln/>
        </p:spPr>
      </p:sp>
      <p:pic>
        <p:nvPicPr>
          <p:cNvPr id="6" name="Image 0" descr="icon">    </p:cNvPr>
          <p:cNvPicPr>
            <a:picLocks noChangeAspect="1"/>
          </p:cNvPicPr>
          <p:nvPr/>
        </p:nvPicPr>
        <p:blipFill>
          <a:blip r:embed="rId1"/>
          <a:stretch>
            <a:fillRect/>
          </a:stretch>
        </p:blipFill>
        <p:spPr>
          <a:xfrm>
            <a:off x="960120" y="1965960"/>
            <a:ext cx="274320" cy="274320"/>
          </a:xfrm>
          <a:prstGeom prst="rect">
            <a:avLst/>
          </a:prstGeom>
        </p:spPr>
      </p:pic>
      <p:sp>
        <p:nvSpPr>
          <p:cNvPr id="7" name="Text 4"/>
          <p:cNvSpPr txBox="1"/>
          <p:nvPr/>
        </p:nvSpPr>
        <p:spPr>
          <a:xfrm>
            <a:off x="1554480" y="1828800"/>
            <a:ext cx="3749040" cy="548640"/>
          </a:xfrm>
          <a:prstGeom prst="rect">
            <a:avLst/>
          </a:prstGeom>
          <a:noFill/>
          <a:ln/>
        </p:spPr>
        <p:txBody>
          <a:bodyPr wrap="square" lIns="0" tIns="0" rIns="0" bIns="0" rtlCol="0" anchor="ctr"/>
          <a:lstStyle/>
          <a:p>
            <a:pPr indent="0" marL="0">
              <a:buNone/>
            </a:pPr>
            <a:r>
              <a:rPr lang="en-US" sz="2000" b="1" dirty="0">
                <a:solidFill>
                  <a:schemeClr val="tx1"/>
                </a:solidFill>
              </a:rPr>
              <a:t>Linear Regression</a:t>
            </a:r>
            <a:endParaRPr lang="en-US" sz="2000" dirty="0"/>
          </a:p>
        </p:txBody>
      </p:sp>
      <p:sp>
        <p:nvSpPr>
          <p:cNvPr id="8" name="Text 5"/>
          <p:cNvSpPr txBox="1"/>
          <p:nvPr/>
        </p:nvSpPr>
        <p:spPr>
          <a:xfrm>
            <a:off x="822960" y="2514600"/>
            <a:ext cx="4480560" cy="594360"/>
          </a:xfrm>
          <a:prstGeom prst="rect">
            <a:avLst/>
          </a:prstGeom>
          <a:noFill/>
          <a:ln/>
        </p:spPr>
        <p:txBody>
          <a:bodyPr wrap="square" lIns="0" tIns="0" rIns="0" bIns="0" rtlCol="0" anchor="t"/>
          <a:lstStyle/>
          <a:p>
            <a:pPr indent="0" marL="0">
              <a:buNone/>
            </a:pPr>
            <a:r>
              <a:rPr lang="en-US" sz="1400" dirty="0">
                <a:solidFill>
                  <a:schemeClr val="tx2"/>
                </a:solidFill>
              </a:rPr>
              <a:t>Baseline model that assumes simple, straight-line relationships</a:t>
            </a:r>
            <a:endParaRPr lang="en-US" sz="1400" dirty="0"/>
          </a:p>
        </p:txBody>
      </p:sp>
      <p:sp>
        <p:nvSpPr>
          <p:cNvPr id="9" name="Model card winner"/>
          <p:cNvSpPr/>
          <p:nvPr/>
        </p:nvSpPr>
        <p:spPr>
          <a:xfrm>
            <a:off x="548640" y="3383280"/>
            <a:ext cx="4937760" cy="1828800"/>
          </a:xfrm>
          <a:prstGeom prst="roundRect">
            <a:avLst>
              <a:gd name="adj" fmla="val 6000"/>
            </a:avLst>
          </a:prstGeom>
          <a:solidFill>
            <a:schemeClr val="accent1"/>
          </a:solidFill>
          <a:ln/>
        </p:spPr>
      </p:sp>
      <p:sp>
        <p:nvSpPr>
          <p:cNvPr id="10" name="Icon circle"/>
          <p:cNvSpPr/>
          <p:nvPr/>
        </p:nvSpPr>
        <p:spPr>
          <a:xfrm>
            <a:off x="822960" y="3611880"/>
            <a:ext cx="548640" cy="548640"/>
          </a:xfrm>
          <a:prstGeom prst="ellipse">
            <a:avLst/>
          </a:prstGeom>
          <a:solidFill>
            <a:schemeClr val="tx1"/>
          </a:solidFill>
          <a:ln/>
        </p:spPr>
      </p:sp>
      <p:pic>
        <p:nvPicPr>
          <p:cNvPr id="11" name="Image 1" descr="icon">    </p:cNvPr>
          <p:cNvPicPr>
            <a:picLocks noChangeAspect="1"/>
          </p:cNvPicPr>
          <p:nvPr/>
        </p:nvPicPr>
        <p:blipFill>
          <a:blip r:embed="rId2"/>
          <a:stretch>
            <a:fillRect/>
          </a:stretch>
        </p:blipFill>
        <p:spPr>
          <a:xfrm>
            <a:off x="960120" y="3749040"/>
            <a:ext cx="274320" cy="274320"/>
          </a:xfrm>
          <a:prstGeom prst="rect">
            <a:avLst/>
          </a:prstGeom>
        </p:spPr>
      </p:pic>
      <p:sp>
        <p:nvSpPr>
          <p:cNvPr id="12" name="Text 8"/>
          <p:cNvSpPr txBox="1"/>
          <p:nvPr/>
        </p:nvSpPr>
        <p:spPr>
          <a:xfrm>
            <a:off x="1554480" y="3611880"/>
            <a:ext cx="2194560" cy="548640"/>
          </a:xfrm>
          <a:prstGeom prst="rect">
            <a:avLst/>
          </a:prstGeom>
          <a:noFill/>
          <a:ln/>
        </p:spPr>
        <p:txBody>
          <a:bodyPr wrap="square" lIns="0" tIns="0" rIns="0" bIns="0" rtlCol="0" anchor="ctr"/>
          <a:lstStyle/>
          <a:p>
            <a:pPr indent="0" marL="0">
              <a:buNone/>
            </a:pPr>
            <a:r>
              <a:rPr lang="en-US" sz="2000" b="1" dirty="0">
                <a:solidFill>
                  <a:schemeClr val="bg1"/>
                </a:solidFill>
              </a:rPr>
              <a:t>Random Forest</a:t>
            </a:r>
            <a:endParaRPr lang="en-US" sz="2000" dirty="0"/>
          </a:p>
        </p:txBody>
      </p:sp>
      <p:sp>
        <p:nvSpPr>
          <p:cNvPr id="13" name="Text 9"/>
          <p:cNvSpPr txBox="1"/>
          <p:nvPr/>
        </p:nvSpPr>
        <p:spPr>
          <a:xfrm>
            <a:off x="3840480" y="3730752"/>
            <a:ext cx="1417320"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spc="100" kern="0" dirty="0">
                <a:solidFill>
                  <a:schemeClr val="tx1"/>
                </a:solidFill>
              </a:rPr>
              <a:t>BEST MODEL</a:t>
            </a:r>
            <a:endParaRPr lang="en-US" sz="1100" dirty="0"/>
          </a:p>
        </p:txBody>
      </p:sp>
      <p:sp>
        <p:nvSpPr>
          <p:cNvPr id="14" name="Text 10"/>
          <p:cNvSpPr txBox="1"/>
          <p:nvPr/>
        </p:nvSpPr>
        <p:spPr>
          <a:xfrm>
            <a:off x="822960" y="4343400"/>
            <a:ext cx="4480560" cy="685800"/>
          </a:xfrm>
          <a:prstGeom prst="rect">
            <a:avLst/>
          </a:prstGeom>
          <a:noFill/>
          <a:ln/>
        </p:spPr>
        <p:txBody>
          <a:bodyPr wrap="square" lIns="0" tIns="0" rIns="0" bIns="0" rtlCol="0" anchor="t"/>
          <a:lstStyle/>
          <a:p>
            <a:pPr indent="0" marL="0">
              <a:buNone/>
            </a:pPr>
            <a:r>
              <a:rPr lang="en-US" sz="1400" dirty="0">
                <a:solidFill>
                  <a:schemeClr val="bg1"/>
                </a:solidFill>
              </a:rPr>
              <a:t>Captures non-linear patterns and interactions between features</a:t>
            </a:r>
            <a:endParaRPr lang="en-US" sz="1400" dirty="0"/>
          </a:p>
        </p:txBody>
      </p:sp>
      <p:sp>
        <p:nvSpPr>
          <p:cNvPr id="15" name="Metrics panel"/>
          <p:cNvSpPr/>
          <p:nvPr/>
        </p:nvSpPr>
        <p:spPr>
          <a:xfrm>
            <a:off x="5852160" y="1600200"/>
            <a:ext cx="5788152" cy="3611880"/>
          </a:xfrm>
          <a:prstGeom prst="roundRect">
            <a:avLst>
              <a:gd name="adj" fmla="val 3038"/>
            </a:avLst>
          </a:prstGeom>
          <a:solidFill>
            <a:schemeClr val="bg2"/>
          </a:solidFill>
          <a:ln/>
        </p:spPr>
      </p:sp>
      <p:sp>
        <p:nvSpPr>
          <p:cNvPr id="16" name="R2 value"/>
          <p:cNvSpPr txBox="1"/>
          <p:nvPr/>
        </p:nvSpPr>
        <p:spPr>
          <a:xfrm>
            <a:off x="6126480" y="1737360"/>
            <a:ext cx="2651760" cy="914400"/>
          </a:xfrm>
          <a:prstGeom prst="rect">
            <a:avLst/>
          </a:prstGeom>
          <a:noFill/>
          <a:ln/>
        </p:spPr>
        <p:txBody>
          <a:bodyPr wrap="square" lIns="0" tIns="0" rIns="0" bIns="0" rtlCol="0" anchor="ctr"/>
          <a:lstStyle/>
          <a:p>
            <a:pPr indent="0" marL="0">
              <a:buNone/>
            </a:pPr>
            <a:r>
              <a:rPr lang="en-US" sz="5600" b="1" dirty="0">
                <a:solidFill>
                  <a:schemeClr val="accent1"/>
                </a:solidFill>
              </a:rPr>
              <a:t>0.596</a:t>
            </a:r>
            <a:endParaRPr lang="en-US" sz="5600" dirty="0"/>
          </a:p>
        </p:txBody>
      </p:sp>
      <p:sp>
        <p:nvSpPr>
          <p:cNvPr id="17" name="Text 13"/>
          <p:cNvSpPr txBox="1"/>
          <p:nvPr/>
        </p:nvSpPr>
        <p:spPr>
          <a:xfrm>
            <a:off x="8869680" y="1783080"/>
            <a:ext cx="2560320" cy="914400"/>
          </a:xfrm>
          <a:prstGeom prst="rect">
            <a:avLst/>
          </a:prstGeom>
          <a:noFill/>
          <a:ln/>
        </p:spPr>
        <p:txBody>
          <a:bodyPr wrap="square" lIns="0" tIns="0" rIns="0" bIns="0" rtlCol="0" anchor="ctr"/>
          <a:lstStyle/>
          <a:p>
            <a:pPr indent="0" marL="0">
              <a:buNone/>
            </a:pPr>
            <a:r>
              <a:rPr lang="en-US" sz="1800" b="1" dirty="0">
                <a:solidFill>
                  <a:schemeClr val="tx1"/>
                </a:solidFill>
              </a:rPr>
              <a:t>R²</a:t>
            </a:r>
            <a:endParaRPr lang="en-US" sz="1800" dirty="0"/>
          </a:p>
          <a:p>
            <a:pPr indent="0" marL="0">
              <a:buNone/>
            </a:pPr>
            <a:r>
              <a:rPr lang="en-US" sz="1400" dirty="0">
                <a:solidFill>
                  <a:schemeClr val="tx1"/>
                </a:solidFill>
              </a:rPr>
              <a:t>Share of satisfaction variance the model explains (~60%)</a:t>
            </a:r>
            <a:endParaRPr lang="en-US" sz="1800" dirty="0"/>
          </a:p>
        </p:txBody>
      </p:sp>
      <p:sp>
        <p:nvSpPr>
          <p:cNvPr id="18" name="R2 track"/>
          <p:cNvSpPr/>
          <p:nvPr/>
        </p:nvSpPr>
        <p:spPr>
          <a:xfrm>
            <a:off x="6126480" y="2834640"/>
            <a:ext cx="5239512" cy="201168"/>
          </a:xfrm>
          <a:prstGeom prst="roundRect">
            <a:avLst>
              <a:gd name="adj" fmla="val 50000"/>
            </a:avLst>
          </a:prstGeom>
          <a:solidFill>
            <a:schemeClr val="accent5">
              <a:alpha val="45000"/>
            </a:schemeClr>
          </a:solidFill>
          <a:ln/>
        </p:spPr>
      </p:sp>
      <p:sp>
        <p:nvSpPr>
          <p:cNvPr id="19" name="R2 fill"/>
          <p:cNvSpPr/>
          <p:nvPr/>
        </p:nvSpPr>
        <p:spPr>
          <a:xfrm>
            <a:off x="6126480" y="2834640"/>
            <a:ext cx="3122749" cy="201168"/>
          </a:xfrm>
          <a:prstGeom prst="roundRect">
            <a:avLst>
              <a:gd name="adj" fmla="val 50000"/>
            </a:avLst>
          </a:prstGeom>
          <a:solidFill>
            <a:schemeClr val="accent1"/>
          </a:solidFill>
          <a:ln/>
        </p:spPr>
      </p:sp>
      <p:sp>
        <p:nvSpPr>
          <p:cNvPr id="20" name="MAE value"/>
          <p:cNvSpPr txBox="1"/>
          <p:nvPr/>
        </p:nvSpPr>
        <p:spPr>
          <a:xfrm>
            <a:off x="6126480" y="3337560"/>
            <a:ext cx="2651760" cy="914400"/>
          </a:xfrm>
          <a:prstGeom prst="rect">
            <a:avLst/>
          </a:prstGeom>
          <a:noFill/>
          <a:ln/>
        </p:spPr>
        <p:txBody>
          <a:bodyPr wrap="square" lIns="0" tIns="0" rIns="0" bIns="0" rtlCol="0" anchor="ctr"/>
          <a:lstStyle/>
          <a:p>
            <a:pPr indent="0" marL="0">
              <a:buNone/>
            </a:pPr>
            <a:r>
              <a:rPr lang="en-US" sz="5600" b="1" dirty="0">
                <a:solidFill>
                  <a:schemeClr val="accent2"/>
                </a:solidFill>
              </a:rPr>
              <a:t>0.829</a:t>
            </a:r>
            <a:endParaRPr lang="en-US" sz="5600" dirty="0"/>
          </a:p>
        </p:txBody>
      </p:sp>
      <p:sp>
        <p:nvSpPr>
          <p:cNvPr id="21" name="Text 17"/>
          <p:cNvSpPr txBox="1"/>
          <p:nvPr/>
        </p:nvSpPr>
        <p:spPr>
          <a:xfrm>
            <a:off x="8869680" y="3383280"/>
            <a:ext cx="2560320" cy="914400"/>
          </a:xfrm>
          <a:prstGeom prst="rect">
            <a:avLst/>
          </a:prstGeom>
          <a:noFill/>
          <a:ln/>
        </p:spPr>
        <p:txBody>
          <a:bodyPr wrap="square" lIns="0" tIns="0" rIns="0" bIns="0" rtlCol="0" anchor="ctr"/>
          <a:lstStyle/>
          <a:p>
            <a:pPr indent="0" marL="0">
              <a:buNone/>
            </a:pPr>
            <a:r>
              <a:rPr lang="en-US" sz="1800" b="1" dirty="0">
                <a:solidFill>
                  <a:schemeClr val="tx1"/>
                </a:solidFill>
              </a:rPr>
              <a:t>MAE</a:t>
            </a:r>
            <a:endParaRPr lang="en-US" sz="1800" dirty="0"/>
          </a:p>
          <a:p>
            <a:pPr indent="0" marL="0">
              <a:buNone/>
            </a:pPr>
            <a:r>
              <a:rPr lang="en-US" sz="1400" dirty="0">
                <a:solidFill>
                  <a:schemeClr val="tx1"/>
                </a:solidFill>
              </a:rPr>
              <a:t>Average prediction error, under one point on the satisfaction scale</a:t>
            </a:r>
            <a:endParaRPr lang="en-US" sz="1800" dirty="0"/>
          </a:p>
        </p:txBody>
      </p:sp>
      <p:sp>
        <p:nvSpPr>
          <p:cNvPr id="22" name="Text 18"/>
          <p:cNvSpPr txBox="1"/>
          <p:nvPr/>
        </p:nvSpPr>
        <p:spPr>
          <a:xfrm>
            <a:off x="6126480" y="4526280"/>
            <a:ext cx="5239512" cy="457200"/>
          </a:xfrm>
          <a:prstGeom prst="rect">
            <a:avLst/>
          </a:prstGeom>
          <a:noFill/>
          <a:ln/>
        </p:spPr>
        <p:txBody>
          <a:bodyPr wrap="square" lIns="0" tIns="0" rIns="0" bIns="0" rtlCol="0" anchor="ctr"/>
          <a:lstStyle/>
          <a:p>
            <a:pPr indent="0" marL="0">
              <a:buNone/>
            </a:pPr>
            <a:r>
              <a:rPr lang="en-US" sz="1400" b="1" dirty="0">
                <a:solidFill>
                  <a:schemeClr val="tx2"/>
                </a:solidFill>
              </a:rPr>
              <a:t>Best Model: Random Forest  ·  R² = 0.596  ·  MAE = 0.829</a:t>
            </a:r>
            <a:endParaRPr lang="en-US" sz="1400" dirty="0"/>
          </a:p>
        </p:txBody>
      </p:sp>
      <p:sp>
        <p:nvSpPr>
          <p:cNvPr id="23" name="Insight card"/>
          <p:cNvSpPr/>
          <p:nvPr/>
        </p:nvSpPr>
        <p:spPr>
          <a:xfrm>
            <a:off x="548640" y="5440680"/>
            <a:ext cx="11091672" cy="914400"/>
          </a:xfrm>
          <a:prstGeom prst="roundRect">
            <a:avLst>
              <a:gd name="adj" fmla="val 12000"/>
            </a:avLst>
          </a:prstGeom>
          <a:solidFill>
            <a:schemeClr val="bg2"/>
          </a:solidFill>
          <a:ln/>
        </p:spPr>
      </p:sp>
      <p:sp>
        <p:nvSpPr>
          <p:cNvPr id="24" name="Icon circle"/>
          <p:cNvSpPr/>
          <p:nvPr/>
        </p:nvSpPr>
        <p:spPr>
          <a:xfrm>
            <a:off x="777240" y="5623560"/>
            <a:ext cx="548640" cy="548640"/>
          </a:xfrm>
          <a:prstGeom prst="ellipse">
            <a:avLst/>
          </a:prstGeom>
          <a:solidFill>
            <a:schemeClr val="accent3"/>
          </a:solidFill>
          <a:ln/>
        </p:spPr>
      </p:sp>
      <p:pic>
        <p:nvPicPr>
          <p:cNvPr id="25" name="Image 2" descr="icon">    </p:cNvPr>
          <p:cNvPicPr>
            <a:picLocks noChangeAspect="1"/>
          </p:cNvPicPr>
          <p:nvPr/>
        </p:nvPicPr>
        <p:blipFill>
          <a:blip r:embed="rId3"/>
          <a:stretch>
            <a:fillRect/>
          </a:stretch>
        </p:blipFill>
        <p:spPr>
          <a:xfrm>
            <a:off x="914400" y="5760720"/>
            <a:ext cx="274320" cy="274320"/>
          </a:xfrm>
          <a:prstGeom prst="rect">
            <a:avLst/>
          </a:prstGeom>
        </p:spPr>
      </p:pic>
      <p:sp>
        <p:nvSpPr>
          <p:cNvPr id="26" name="Text 21"/>
          <p:cNvSpPr txBox="1"/>
          <p:nvPr/>
        </p:nvSpPr>
        <p:spPr>
          <a:xfrm>
            <a:off x="1554480" y="5550408"/>
            <a:ext cx="45720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BUSINESS INSIGHT</a:t>
            </a:r>
            <a:endParaRPr lang="en-US" sz="1100" dirty="0"/>
          </a:p>
        </p:txBody>
      </p:sp>
      <p:sp>
        <p:nvSpPr>
          <p:cNvPr id="27" name="Insight text"/>
          <p:cNvSpPr txBox="1"/>
          <p:nvPr/>
        </p:nvSpPr>
        <p:spPr>
          <a:xfrm>
            <a:off x="1554480" y="5779008"/>
            <a:ext cx="9875520" cy="502920"/>
          </a:xfrm>
          <a:prstGeom prst="rect">
            <a:avLst/>
          </a:prstGeom>
          <a:noFill/>
          <a:ln/>
        </p:spPr>
        <p:txBody>
          <a:bodyPr wrap="square" lIns="0" tIns="0" rIns="0" bIns="0" rtlCol="0" anchor="t"/>
          <a:lstStyle/>
          <a:p>
            <a:pPr indent="0" marL="0">
              <a:buNone/>
            </a:pPr>
            <a:r>
              <a:rPr lang="en-US" sz="1400" dirty="0">
                <a:solidFill>
                  <a:schemeClr val="tx1"/>
                </a:solidFill>
              </a:rPr>
              <a:t>The model explains about 60% of the variation in satisfaction: strong enough to flag at-risk segments, but the rest depends on factors the survey did not capture.</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KEY DRIVERS</a:t>
            </a:r>
            <a:endParaRPr lang="en-US" sz="1100" dirty="0"/>
          </a:p>
        </p:txBody>
      </p:sp>
      <p:sp>
        <p:nvSpPr>
          <p:cNvPr id="3" name="Placeholder data tag"/>
          <p:cNvSpPr txBox="1"/>
          <p:nvPr/>
        </p:nvSpPr>
        <p:spPr>
          <a:xfrm>
            <a:off x="8732520" y="274320"/>
            <a:ext cx="2907792"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dirty="0">
                <a:solidFill>
                  <a:schemeClr val="tx1"/>
                </a:solidFill>
              </a:rPr>
              <a:t>ILLUSTRATIVE VALUES · EDIT CHART DATA</a:t>
            </a:r>
            <a:endParaRPr lang="en-US" sz="1000" dirty="0"/>
          </a:p>
        </p:txBody>
      </p:sp>
      <p:sp>
        <p:nvSpPr>
          <p:cNvPr id="4" name="Text 0"/>
          <p:cNvSpPr/>
          <p:nvPr>
            <p:ph idx="100" type="title" hasCustomPrompt="1"/>
          </p:nvPr>
        </p:nvSpPr>
        <p:spPr>
          <a:xfrm>
            <a:off x="548640" y="566928"/>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What Drives Satisfaction</a:t>
            </a:r>
            <a:endParaRPr lang="en-US" sz="3600" dirty="0"/>
          </a:p>
        </p:txBody>
      </p:sp>
      <p:sp>
        <p:nvSpPr>
          <p:cNvPr id="5" name="Text 3"/>
          <p:cNvSpPr txBox="1"/>
          <p:nvPr/>
        </p:nvSpPr>
        <p:spPr>
          <a:xfrm>
            <a:off x="548640" y="1554480"/>
            <a:ext cx="6217920" cy="274320"/>
          </a:xfrm>
          <a:prstGeom prst="rect">
            <a:avLst/>
          </a:prstGeom>
          <a:noFill/>
          <a:ln/>
        </p:spPr>
        <p:txBody>
          <a:bodyPr wrap="square" lIns="0" tIns="0" rIns="0" bIns="0" rtlCol="0" anchor="ctr"/>
          <a:lstStyle/>
          <a:p>
            <a:pPr indent="0" marL="0">
              <a:buNone/>
            </a:pPr>
            <a:r>
              <a:rPr lang="en-US" sz="1400" b="1" dirty="0">
                <a:solidFill>
                  <a:schemeClr val="tx2"/>
                </a:solidFill>
              </a:rPr>
              <a:t>Feature importance (Random Forest)</a:t>
            </a:r>
            <a:endParaRPr lang="en-US" sz="1400" dirty="0"/>
          </a:p>
        </p:txBody>
      </p:sp>
      <p:graphicFrame>
        <p:nvGraphicFramePr>
          <p:cNvPr id="6" name="Chart 0" descr=""/>
          <p:cNvGraphicFramePr/>
          <p:nvPr/>
        </p:nvGraphicFramePr>
        <p:xfrm>
          <a:off x="548640" y="1828800"/>
          <a:ext cx="6309360" cy="3474720"/>
        </p:xfrm>
        <a:graphic xmlns:a="http://schemas.openxmlformats.org/drawingml/2006/main">
          <a:graphicData uri="http://schemas.openxmlformats.org/drawingml/2006/chart">
            <c:chart xmlns:c="http://schemas.openxmlformats.org/drawingml/2006/chart" r:id="rId1"/>
          </a:graphicData>
        </a:graphic>
      </p:graphicFrame>
      <p:sp>
        <p:nvSpPr>
          <p:cNvPr id="7" name="Takeaway row"/>
          <p:cNvSpPr/>
          <p:nvPr/>
        </p:nvSpPr>
        <p:spPr>
          <a:xfrm>
            <a:off x="7178040" y="1600200"/>
            <a:ext cx="4462272" cy="804672"/>
          </a:xfrm>
          <a:prstGeom prst="roundRect">
            <a:avLst>
              <a:gd name="adj" fmla="val 13636"/>
            </a:avLst>
          </a:prstGeom>
          <a:solidFill>
            <a:schemeClr val="bg2"/>
          </a:solidFill>
          <a:ln/>
        </p:spPr>
      </p:sp>
      <p:sp>
        <p:nvSpPr>
          <p:cNvPr id="8" name="Icon circle"/>
          <p:cNvSpPr/>
          <p:nvPr/>
        </p:nvSpPr>
        <p:spPr>
          <a:xfrm>
            <a:off x="7360920" y="1728216"/>
            <a:ext cx="548640" cy="548640"/>
          </a:xfrm>
          <a:prstGeom prst="ellipse">
            <a:avLst/>
          </a:prstGeom>
          <a:solidFill>
            <a:schemeClr val="accent1"/>
          </a:solidFill>
          <a:ln/>
        </p:spPr>
      </p:sp>
      <p:pic>
        <p:nvPicPr>
          <p:cNvPr id="9" name="Image 0" descr="icon">    </p:cNvPr>
          <p:cNvPicPr>
            <a:picLocks noChangeAspect="1"/>
          </p:cNvPicPr>
          <p:nvPr/>
        </p:nvPicPr>
        <p:blipFill>
          <a:blip r:embed="rId2"/>
          <a:stretch>
            <a:fillRect/>
          </a:stretch>
        </p:blipFill>
        <p:spPr>
          <a:xfrm>
            <a:off x="7498080" y="1865376"/>
            <a:ext cx="274320" cy="274320"/>
          </a:xfrm>
          <a:prstGeom prst="rect">
            <a:avLst/>
          </a:prstGeom>
        </p:spPr>
      </p:pic>
      <p:sp>
        <p:nvSpPr>
          <p:cNvPr id="10" name="Text 6"/>
          <p:cNvSpPr txBox="1"/>
          <p:nvPr/>
        </p:nvSpPr>
        <p:spPr>
          <a:xfrm>
            <a:off x="8092440" y="1673352"/>
            <a:ext cx="3474720" cy="320040"/>
          </a:xfrm>
          <a:prstGeom prst="rect">
            <a:avLst/>
          </a:prstGeom>
          <a:noFill/>
          <a:ln/>
        </p:spPr>
        <p:txBody>
          <a:bodyPr wrap="square" lIns="0" tIns="0" rIns="0" bIns="0" rtlCol="0" anchor="ctr"/>
          <a:lstStyle/>
          <a:p>
            <a:pPr indent="0" marL="0">
              <a:buNone/>
            </a:pPr>
            <a:r>
              <a:rPr lang="en-US" sz="1600" b="1" dirty="0">
                <a:solidFill>
                  <a:schemeClr val="tx1"/>
                </a:solidFill>
              </a:rPr>
              <a:t>Productivity leads</a:t>
            </a:r>
            <a:endParaRPr lang="en-US" sz="1600" dirty="0"/>
          </a:p>
        </p:txBody>
      </p:sp>
      <p:sp>
        <p:nvSpPr>
          <p:cNvPr id="11" name="Text 7"/>
          <p:cNvSpPr txBox="1"/>
          <p:nvPr/>
        </p:nvSpPr>
        <p:spPr>
          <a:xfrm>
            <a:off x="8092440" y="2011680"/>
            <a:ext cx="3474720" cy="320040"/>
          </a:xfrm>
          <a:prstGeom prst="rect">
            <a:avLst/>
          </a:prstGeom>
          <a:noFill/>
          <a:ln/>
        </p:spPr>
        <p:txBody>
          <a:bodyPr wrap="square" lIns="0" tIns="0" rIns="0" bIns="0" rtlCol="0" anchor="t"/>
          <a:lstStyle/>
          <a:p>
            <a:pPr indent="0" marL="0">
              <a:buNone/>
            </a:pPr>
            <a:r>
              <a:rPr lang="en-US" sz="1400" dirty="0">
                <a:solidFill>
                  <a:schemeClr val="tx2"/>
                </a:solidFill>
              </a:rPr>
              <a:t>The strongest driver of satisfaction</a:t>
            </a:r>
            <a:endParaRPr lang="en-US" sz="1400" dirty="0"/>
          </a:p>
        </p:txBody>
      </p:sp>
      <p:sp>
        <p:nvSpPr>
          <p:cNvPr id="12" name="Takeaway row"/>
          <p:cNvSpPr/>
          <p:nvPr/>
        </p:nvSpPr>
        <p:spPr>
          <a:xfrm>
            <a:off x="7178040" y="2514600"/>
            <a:ext cx="4462272" cy="804672"/>
          </a:xfrm>
          <a:prstGeom prst="roundRect">
            <a:avLst>
              <a:gd name="adj" fmla="val 13636"/>
            </a:avLst>
          </a:prstGeom>
          <a:solidFill>
            <a:schemeClr val="bg2"/>
          </a:solidFill>
          <a:ln/>
        </p:spPr>
      </p:sp>
      <p:sp>
        <p:nvSpPr>
          <p:cNvPr id="13" name="Icon circle"/>
          <p:cNvSpPr/>
          <p:nvPr/>
        </p:nvSpPr>
        <p:spPr>
          <a:xfrm>
            <a:off x="7360920" y="2642616"/>
            <a:ext cx="548640" cy="548640"/>
          </a:xfrm>
          <a:prstGeom prst="ellipse">
            <a:avLst/>
          </a:prstGeom>
          <a:solidFill>
            <a:schemeClr val="accent2"/>
          </a:solidFill>
          <a:ln/>
        </p:spPr>
      </p:sp>
      <p:pic>
        <p:nvPicPr>
          <p:cNvPr id="14" name="Image 1" descr="icon">    </p:cNvPr>
          <p:cNvPicPr>
            <a:picLocks noChangeAspect="1"/>
          </p:cNvPicPr>
          <p:nvPr/>
        </p:nvPicPr>
        <p:blipFill>
          <a:blip r:embed="rId3"/>
          <a:stretch>
            <a:fillRect/>
          </a:stretch>
        </p:blipFill>
        <p:spPr>
          <a:xfrm>
            <a:off x="7498080" y="2779776"/>
            <a:ext cx="274320" cy="274320"/>
          </a:xfrm>
          <a:prstGeom prst="rect">
            <a:avLst/>
          </a:prstGeom>
        </p:spPr>
      </p:pic>
      <p:sp>
        <p:nvSpPr>
          <p:cNvPr id="15" name="Text 10"/>
          <p:cNvSpPr txBox="1"/>
          <p:nvPr/>
        </p:nvSpPr>
        <p:spPr>
          <a:xfrm>
            <a:off x="8092440" y="2587752"/>
            <a:ext cx="3474720" cy="320040"/>
          </a:xfrm>
          <a:prstGeom prst="rect">
            <a:avLst/>
          </a:prstGeom>
          <a:noFill/>
          <a:ln/>
        </p:spPr>
        <p:txBody>
          <a:bodyPr wrap="square" lIns="0" tIns="0" rIns="0" bIns="0" rtlCol="0" anchor="ctr"/>
          <a:lstStyle/>
          <a:p>
            <a:pPr indent="0" marL="0">
              <a:buNone/>
            </a:pPr>
            <a:r>
              <a:rPr lang="en-US" sz="1600" b="1" dirty="0">
                <a:solidFill>
                  <a:schemeClr val="tx1"/>
                </a:solidFill>
              </a:rPr>
              <a:t>Accuracy matters</a:t>
            </a:r>
            <a:endParaRPr lang="en-US" sz="1600" dirty="0"/>
          </a:p>
        </p:txBody>
      </p:sp>
      <p:sp>
        <p:nvSpPr>
          <p:cNvPr id="16" name="Text 11"/>
          <p:cNvSpPr txBox="1"/>
          <p:nvPr/>
        </p:nvSpPr>
        <p:spPr>
          <a:xfrm>
            <a:off x="8092440" y="2926080"/>
            <a:ext cx="3474720" cy="320040"/>
          </a:xfrm>
          <a:prstGeom prst="rect">
            <a:avLst/>
          </a:prstGeom>
          <a:noFill/>
          <a:ln/>
        </p:spPr>
        <p:txBody>
          <a:bodyPr wrap="square" lIns="0" tIns="0" rIns="0" bIns="0" rtlCol="0" anchor="t"/>
          <a:lstStyle/>
          <a:p>
            <a:pPr indent="0" marL="0">
              <a:buNone/>
            </a:pPr>
            <a:r>
              <a:rPr lang="en-US" sz="1400" dirty="0">
                <a:solidFill>
                  <a:schemeClr val="tx2"/>
                </a:solidFill>
              </a:rPr>
              <a:t>Reliable answers strongly lift satisfaction</a:t>
            </a:r>
            <a:endParaRPr lang="en-US" sz="1400" dirty="0"/>
          </a:p>
        </p:txBody>
      </p:sp>
      <p:sp>
        <p:nvSpPr>
          <p:cNvPr id="17" name="Takeaway row"/>
          <p:cNvSpPr/>
          <p:nvPr/>
        </p:nvSpPr>
        <p:spPr>
          <a:xfrm>
            <a:off x="7178040" y="3429000"/>
            <a:ext cx="4462272" cy="804672"/>
          </a:xfrm>
          <a:prstGeom prst="roundRect">
            <a:avLst>
              <a:gd name="adj" fmla="val 13636"/>
            </a:avLst>
          </a:prstGeom>
          <a:solidFill>
            <a:schemeClr val="bg2"/>
          </a:solidFill>
          <a:ln/>
        </p:spPr>
      </p:sp>
      <p:sp>
        <p:nvSpPr>
          <p:cNvPr id="18" name="Icon circle"/>
          <p:cNvSpPr/>
          <p:nvPr/>
        </p:nvSpPr>
        <p:spPr>
          <a:xfrm>
            <a:off x="7360920" y="3557016"/>
            <a:ext cx="548640" cy="548640"/>
          </a:xfrm>
          <a:prstGeom prst="ellipse">
            <a:avLst/>
          </a:prstGeom>
          <a:solidFill>
            <a:schemeClr val="accent4"/>
          </a:solidFill>
          <a:ln/>
        </p:spPr>
      </p:sp>
      <p:pic>
        <p:nvPicPr>
          <p:cNvPr id="19" name="Image 2" descr="icon">    </p:cNvPr>
          <p:cNvPicPr>
            <a:picLocks noChangeAspect="1"/>
          </p:cNvPicPr>
          <p:nvPr/>
        </p:nvPicPr>
        <p:blipFill>
          <a:blip r:embed="rId4"/>
          <a:stretch>
            <a:fillRect/>
          </a:stretch>
        </p:blipFill>
        <p:spPr>
          <a:xfrm>
            <a:off x="7498080" y="3694176"/>
            <a:ext cx="274320" cy="274320"/>
          </a:xfrm>
          <a:prstGeom prst="rect">
            <a:avLst/>
          </a:prstGeom>
        </p:spPr>
      </p:pic>
      <p:sp>
        <p:nvSpPr>
          <p:cNvPr id="20" name="Text 14"/>
          <p:cNvSpPr txBox="1"/>
          <p:nvPr/>
        </p:nvSpPr>
        <p:spPr>
          <a:xfrm>
            <a:off x="8092440" y="3502152"/>
            <a:ext cx="3474720" cy="320040"/>
          </a:xfrm>
          <a:prstGeom prst="rect">
            <a:avLst/>
          </a:prstGeom>
          <a:noFill/>
          <a:ln/>
        </p:spPr>
        <p:txBody>
          <a:bodyPr wrap="square" lIns="0" tIns="0" rIns="0" bIns="0" rtlCol="0" anchor="ctr"/>
          <a:lstStyle/>
          <a:p>
            <a:pPr indent="0" marL="0">
              <a:buNone/>
            </a:pPr>
            <a:r>
              <a:rPr lang="en-US" sz="1600" b="1" dirty="0">
                <a:solidFill>
                  <a:schemeClr val="tx1"/>
                </a:solidFill>
              </a:rPr>
              <a:t>Time saved counts</a:t>
            </a:r>
            <a:endParaRPr lang="en-US" sz="1600" dirty="0"/>
          </a:p>
        </p:txBody>
      </p:sp>
      <p:sp>
        <p:nvSpPr>
          <p:cNvPr id="21" name="Text 15"/>
          <p:cNvSpPr txBox="1"/>
          <p:nvPr/>
        </p:nvSpPr>
        <p:spPr>
          <a:xfrm>
            <a:off x="8092440" y="3840480"/>
            <a:ext cx="3474720" cy="320040"/>
          </a:xfrm>
          <a:prstGeom prst="rect">
            <a:avLst/>
          </a:prstGeom>
          <a:noFill/>
          <a:ln/>
        </p:spPr>
        <p:txBody>
          <a:bodyPr wrap="square" lIns="0" tIns="0" rIns="0" bIns="0" rtlCol="0" anchor="t"/>
          <a:lstStyle/>
          <a:p>
            <a:pPr indent="0" marL="0">
              <a:buNone/>
            </a:pPr>
            <a:r>
              <a:rPr lang="en-US" sz="1400" dirty="0">
                <a:solidFill>
                  <a:schemeClr val="tx2"/>
                </a:solidFill>
              </a:rPr>
              <a:t>Faster work improves the experience</a:t>
            </a:r>
            <a:endParaRPr lang="en-US" sz="1400" dirty="0"/>
          </a:p>
        </p:txBody>
      </p:sp>
      <p:sp>
        <p:nvSpPr>
          <p:cNvPr id="22" name="Takeaway row"/>
          <p:cNvSpPr/>
          <p:nvPr/>
        </p:nvSpPr>
        <p:spPr>
          <a:xfrm>
            <a:off x="7178040" y="4343400"/>
            <a:ext cx="4462272" cy="804672"/>
          </a:xfrm>
          <a:prstGeom prst="roundRect">
            <a:avLst>
              <a:gd name="adj" fmla="val 13636"/>
            </a:avLst>
          </a:prstGeom>
          <a:solidFill>
            <a:schemeClr val="bg2"/>
          </a:solidFill>
          <a:ln/>
        </p:spPr>
      </p:sp>
      <p:sp>
        <p:nvSpPr>
          <p:cNvPr id="23" name="Icon circle"/>
          <p:cNvSpPr/>
          <p:nvPr/>
        </p:nvSpPr>
        <p:spPr>
          <a:xfrm>
            <a:off x="7360920" y="4471416"/>
            <a:ext cx="548640" cy="548640"/>
          </a:xfrm>
          <a:prstGeom prst="ellipse">
            <a:avLst/>
          </a:prstGeom>
          <a:solidFill>
            <a:schemeClr val="accent6"/>
          </a:solidFill>
          <a:ln/>
        </p:spPr>
      </p:sp>
      <p:pic>
        <p:nvPicPr>
          <p:cNvPr id="24" name="Image 3" descr="icon">    </p:cNvPr>
          <p:cNvPicPr>
            <a:picLocks noChangeAspect="1"/>
          </p:cNvPicPr>
          <p:nvPr/>
        </p:nvPicPr>
        <p:blipFill>
          <a:blip r:embed="rId5"/>
          <a:stretch>
            <a:fillRect/>
          </a:stretch>
        </p:blipFill>
        <p:spPr>
          <a:xfrm>
            <a:off x="7498080" y="4608576"/>
            <a:ext cx="274320" cy="274320"/>
          </a:xfrm>
          <a:prstGeom prst="rect">
            <a:avLst/>
          </a:prstGeom>
        </p:spPr>
      </p:pic>
      <p:sp>
        <p:nvSpPr>
          <p:cNvPr id="25" name="Text 18"/>
          <p:cNvSpPr txBox="1"/>
          <p:nvPr/>
        </p:nvSpPr>
        <p:spPr>
          <a:xfrm>
            <a:off x="8092440" y="4416552"/>
            <a:ext cx="3474720" cy="320040"/>
          </a:xfrm>
          <a:prstGeom prst="rect">
            <a:avLst/>
          </a:prstGeom>
          <a:noFill/>
          <a:ln/>
        </p:spPr>
        <p:txBody>
          <a:bodyPr wrap="square" lIns="0" tIns="0" rIns="0" bIns="0" rtlCol="0" anchor="ctr"/>
          <a:lstStyle/>
          <a:p>
            <a:pPr indent="0" marL="0">
              <a:buNone/>
            </a:pPr>
            <a:r>
              <a:rPr lang="en-US" sz="1600" b="1" dirty="0">
                <a:solidFill>
                  <a:schemeClr val="tx1"/>
                </a:solidFill>
              </a:rPr>
              <a:t>Value beats volume</a:t>
            </a:r>
            <a:endParaRPr lang="en-US" sz="1600" dirty="0"/>
          </a:p>
        </p:txBody>
      </p:sp>
      <p:sp>
        <p:nvSpPr>
          <p:cNvPr id="26" name="Text 19"/>
          <p:cNvSpPr txBox="1"/>
          <p:nvPr/>
        </p:nvSpPr>
        <p:spPr>
          <a:xfrm>
            <a:off x="8092440" y="4754880"/>
            <a:ext cx="3474720" cy="320040"/>
          </a:xfrm>
          <a:prstGeom prst="rect">
            <a:avLst/>
          </a:prstGeom>
          <a:noFill/>
          <a:ln/>
        </p:spPr>
        <p:txBody>
          <a:bodyPr wrap="square" lIns="0" tIns="0" rIns="0" bIns="0" rtlCol="0" anchor="t"/>
          <a:lstStyle/>
          <a:p>
            <a:pPr indent="0" marL="0">
              <a:buNone/>
            </a:pPr>
            <a:r>
              <a:rPr lang="en-US" sz="1400" dirty="0">
                <a:solidFill>
                  <a:schemeClr val="tx2"/>
                </a:solidFill>
              </a:rPr>
              <a:t>Value delivered outweighs usage volume</a:t>
            </a:r>
            <a:endParaRPr lang="en-US" sz="1400" dirty="0"/>
          </a:p>
        </p:txBody>
      </p:sp>
      <p:sp>
        <p:nvSpPr>
          <p:cNvPr id="27" name="Insight card"/>
          <p:cNvSpPr/>
          <p:nvPr/>
        </p:nvSpPr>
        <p:spPr>
          <a:xfrm>
            <a:off x="548640" y="5440680"/>
            <a:ext cx="11091672" cy="914400"/>
          </a:xfrm>
          <a:prstGeom prst="roundRect">
            <a:avLst>
              <a:gd name="adj" fmla="val 12000"/>
            </a:avLst>
          </a:prstGeom>
          <a:solidFill>
            <a:schemeClr val="bg2"/>
          </a:solidFill>
          <a:ln/>
        </p:spPr>
      </p:sp>
      <p:sp>
        <p:nvSpPr>
          <p:cNvPr id="28" name="Icon circle"/>
          <p:cNvSpPr/>
          <p:nvPr/>
        </p:nvSpPr>
        <p:spPr>
          <a:xfrm>
            <a:off x="777240" y="5623560"/>
            <a:ext cx="548640" cy="548640"/>
          </a:xfrm>
          <a:prstGeom prst="ellipse">
            <a:avLst/>
          </a:prstGeom>
          <a:solidFill>
            <a:schemeClr val="accent3"/>
          </a:solidFill>
          <a:ln/>
        </p:spPr>
      </p:sp>
      <p:pic>
        <p:nvPicPr>
          <p:cNvPr id="29" name="Image 4" descr="icon">    </p:cNvPr>
          <p:cNvPicPr>
            <a:picLocks noChangeAspect="1"/>
          </p:cNvPicPr>
          <p:nvPr/>
        </p:nvPicPr>
        <p:blipFill>
          <a:blip r:embed="rId6"/>
          <a:stretch>
            <a:fillRect/>
          </a:stretch>
        </p:blipFill>
        <p:spPr>
          <a:xfrm>
            <a:off x="914400" y="5760720"/>
            <a:ext cx="274320" cy="274320"/>
          </a:xfrm>
          <a:prstGeom prst="rect">
            <a:avLst/>
          </a:prstGeom>
        </p:spPr>
      </p:pic>
      <p:sp>
        <p:nvSpPr>
          <p:cNvPr id="30" name="Text 22"/>
          <p:cNvSpPr txBox="1"/>
          <p:nvPr/>
        </p:nvSpPr>
        <p:spPr>
          <a:xfrm>
            <a:off x="1554480" y="5550408"/>
            <a:ext cx="45720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BUSINESS INSIGHT</a:t>
            </a:r>
            <a:endParaRPr lang="en-US" sz="1100" dirty="0"/>
          </a:p>
        </p:txBody>
      </p:sp>
      <p:sp>
        <p:nvSpPr>
          <p:cNvPr id="31" name="Insight text"/>
          <p:cNvSpPr txBox="1"/>
          <p:nvPr/>
        </p:nvSpPr>
        <p:spPr>
          <a:xfrm>
            <a:off x="1554480" y="5779008"/>
            <a:ext cx="9875520" cy="502920"/>
          </a:xfrm>
          <a:prstGeom prst="rect">
            <a:avLst/>
          </a:prstGeom>
          <a:noFill/>
          <a:ln/>
        </p:spPr>
        <p:txBody>
          <a:bodyPr wrap="square" lIns="0" tIns="0" rIns="0" bIns="0" rtlCol="0" anchor="t"/>
          <a:lstStyle/>
          <a:p>
            <a:pPr indent="0" marL="0">
              <a:buNone/>
            </a:pPr>
            <a:r>
              <a:rPr lang="en-US" sz="1400" dirty="0">
                <a:solidFill>
                  <a:schemeClr val="tx1"/>
                </a:solidFill>
              </a:rPr>
              <a:t>Satisfaction comes from outcomes, not activity. Raising productivity, accuracy and time saved will do more than getting people to simply use AI more.</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NEXT STEPS</a:t>
            </a:r>
            <a:endParaRPr lang="en-US" sz="1100" dirty="0"/>
          </a:p>
        </p:txBody>
      </p:sp>
      <p:sp>
        <p:nvSpPr>
          <p:cNvPr id="3" name="Text 0"/>
          <p:cNvSpPr/>
          <p:nvPr>
            <p:ph idx="100" type="title" hasCustomPrompt="1"/>
          </p:nvPr>
        </p:nvSpPr>
        <p:spPr>
          <a:xfrm>
            <a:off x="548640" y="566928"/>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Recommendations</a:t>
            </a:r>
            <a:endParaRPr lang="en-US" sz="3600" dirty="0"/>
          </a:p>
        </p:txBody>
      </p:sp>
      <p:sp>
        <p:nvSpPr>
          <p:cNvPr id="4" name="Recommendation card"/>
          <p:cNvSpPr/>
          <p:nvPr/>
        </p:nvSpPr>
        <p:spPr>
          <a:xfrm>
            <a:off x="548640" y="1645920"/>
            <a:ext cx="5440680" cy="2011680"/>
          </a:xfrm>
          <a:prstGeom prst="roundRect">
            <a:avLst>
              <a:gd name="adj" fmla="val 5455"/>
            </a:avLst>
          </a:prstGeom>
          <a:solidFill>
            <a:schemeClr val="tx2"/>
          </a:solidFill>
          <a:ln/>
        </p:spPr>
      </p:sp>
      <p:sp>
        <p:nvSpPr>
          <p:cNvPr id="5" name="Number circle"/>
          <p:cNvSpPr/>
          <p:nvPr/>
        </p:nvSpPr>
        <p:spPr>
          <a:xfrm>
            <a:off x="822960" y="1920240"/>
            <a:ext cx="640080" cy="640080"/>
          </a:xfrm>
          <a:prstGeom prst="ellipse">
            <a:avLst/>
          </a:prstGeom>
          <a:solidFill>
            <a:schemeClr val="accent1"/>
          </a:solidFill>
          <a:ln/>
        </p:spPr>
      </p:sp>
      <p:sp>
        <p:nvSpPr>
          <p:cNvPr id="6" name="Text 4"/>
          <p:cNvSpPr txBox="1"/>
          <p:nvPr/>
        </p:nvSpPr>
        <p:spPr>
          <a:xfrm>
            <a:off x="822960" y="192024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1</a:t>
            </a:r>
            <a:endParaRPr lang="en-US" sz="2400" dirty="0"/>
          </a:p>
        </p:txBody>
      </p:sp>
      <p:sp>
        <p:nvSpPr>
          <p:cNvPr id="7" name="Text 5"/>
          <p:cNvSpPr txBox="1"/>
          <p:nvPr/>
        </p:nvSpPr>
        <p:spPr>
          <a:xfrm>
            <a:off x="1691640" y="1874520"/>
            <a:ext cx="4114800" cy="411480"/>
          </a:xfrm>
          <a:prstGeom prst="rect">
            <a:avLst/>
          </a:prstGeom>
          <a:noFill/>
          <a:ln/>
        </p:spPr>
        <p:txBody>
          <a:bodyPr wrap="square" lIns="0" tIns="0" rIns="0" bIns="0" rtlCol="0" anchor="ctr"/>
          <a:lstStyle/>
          <a:p>
            <a:pPr indent="0" marL="0">
              <a:buNone/>
            </a:pPr>
            <a:r>
              <a:rPr lang="en-US" sz="2000" b="1" dirty="0">
                <a:solidFill>
                  <a:schemeClr val="bg1"/>
                </a:solidFill>
              </a:rPr>
              <a:t>Adopt with purpose</a:t>
            </a:r>
            <a:endParaRPr lang="en-US" sz="2000" dirty="0"/>
          </a:p>
        </p:txBody>
      </p:sp>
      <p:sp>
        <p:nvSpPr>
          <p:cNvPr id="8" name="Text 6"/>
          <p:cNvSpPr txBox="1"/>
          <p:nvPr/>
        </p:nvSpPr>
        <p:spPr>
          <a:xfrm>
            <a:off x="1691640" y="2331720"/>
            <a:ext cx="4023360" cy="777240"/>
          </a:xfrm>
          <a:prstGeom prst="rect">
            <a:avLst/>
          </a:prstGeom>
          <a:noFill/>
          <a:ln/>
        </p:spPr>
        <p:txBody>
          <a:bodyPr wrap="square" lIns="0" tIns="0" rIns="0" bIns="0" rtlCol="0" anchor="t"/>
          <a:lstStyle/>
          <a:p>
            <a:pPr indent="0" marL="0">
              <a:buNone/>
            </a:pPr>
            <a:r>
              <a:rPr lang="en-US" sz="1400" dirty="0">
                <a:solidFill>
                  <a:schemeClr val="bg2"/>
                </a:solidFill>
              </a:rPr>
              <a:t>Encourage meaningful AI adoption rather than increasing usage volume alone.</a:t>
            </a:r>
            <a:endParaRPr lang="en-US" sz="1400" dirty="0"/>
          </a:p>
        </p:txBody>
      </p:sp>
      <p:sp>
        <p:nvSpPr>
          <p:cNvPr id="9" name="Text 7"/>
          <p:cNvSpPr txBox="1"/>
          <p:nvPr/>
        </p:nvSpPr>
        <p:spPr>
          <a:xfrm>
            <a:off x="1691640" y="3154680"/>
            <a:ext cx="4023360" cy="320040"/>
          </a:xfrm>
          <a:prstGeom prst="rect">
            <a:avLst/>
          </a:prstGeom>
          <a:noFill/>
          <a:ln/>
        </p:spPr>
        <p:txBody>
          <a:bodyPr wrap="square" lIns="0" tIns="0" rIns="0" bIns="0" rtlCol="0" anchor="ctr"/>
          <a:lstStyle/>
          <a:p>
            <a:pPr indent="0" marL="0">
              <a:buNone/>
            </a:pPr>
            <a:r>
              <a:rPr lang="en-US" sz="1200" b="1" dirty="0">
                <a:solidFill>
                  <a:schemeClr val="accent2"/>
                </a:solidFill>
              </a:rPr>
              <a:t>Track: satisfaction among active users</a:t>
            </a:r>
            <a:endParaRPr lang="en-US" sz="1200" dirty="0"/>
          </a:p>
        </p:txBody>
      </p:sp>
      <p:sp>
        <p:nvSpPr>
          <p:cNvPr id="10" name="Recommendation card"/>
          <p:cNvSpPr/>
          <p:nvPr/>
        </p:nvSpPr>
        <p:spPr>
          <a:xfrm>
            <a:off x="6199632" y="1645920"/>
            <a:ext cx="5440680" cy="2011680"/>
          </a:xfrm>
          <a:prstGeom prst="roundRect">
            <a:avLst>
              <a:gd name="adj" fmla="val 5455"/>
            </a:avLst>
          </a:prstGeom>
          <a:solidFill>
            <a:schemeClr val="tx2"/>
          </a:solidFill>
          <a:ln/>
        </p:spPr>
      </p:sp>
      <p:sp>
        <p:nvSpPr>
          <p:cNvPr id="11" name="Number circle"/>
          <p:cNvSpPr/>
          <p:nvPr/>
        </p:nvSpPr>
        <p:spPr>
          <a:xfrm>
            <a:off x="6473952" y="1920240"/>
            <a:ext cx="640080" cy="640080"/>
          </a:xfrm>
          <a:prstGeom prst="ellipse">
            <a:avLst/>
          </a:prstGeom>
          <a:solidFill>
            <a:schemeClr val="accent2"/>
          </a:solidFill>
          <a:ln/>
        </p:spPr>
      </p:sp>
      <p:sp>
        <p:nvSpPr>
          <p:cNvPr id="12" name="Text 10"/>
          <p:cNvSpPr txBox="1"/>
          <p:nvPr/>
        </p:nvSpPr>
        <p:spPr>
          <a:xfrm>
            <a:off x="6473952" y="192024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2</a:t>
            </a:r>
            <a:endParaRPr lang="en-US" sz="2400" dirty="0"/>
          </a:p>
        </p:txBody>
      </p:sp>
      <p:sp>
        <p:nvSpPr>
          <p:cNvPr id="13" name="Text 11"/>
          <p:cNvSpPr txBox="1"/>
          <p:nvPr/>
        </p:nvSpPr>
        <p:spPr>
          <a:xfrm>
            <a:off x="7342632" y="1874520"/>
            <a:ext cx="4114800" cy="411480"/>
          </a:xfrm>
          <a:prstGeom prst="rect">
            <a:avLst/>
          </a:prstGeom>
          <a:noFill/>
          <a:ln/>
        </p:spPr>
        <p:txBody>
          <a:bodyPr wrap="square" lIns="0" tIns="0" rIns="0" bIns="0" rtlCol="0" anchor="ctr"/>
          <a:lstStyle/>
          <a:p>
            <a:pPr indent="0" marL="0">
              <a:buNone/>
            </a:pPr>
            <a:r>
              <a:rPr lang="en-US" sz="2000" b="1" dirty="0">
                <a:solidFill>
                  <a:schemeClr val="bg1"/>
                </a:solidFill>
              </a:rPr>
              <a:t>Improve outcomes</a:t>
            </a:r>
            <a:endParaRPr lang="en-US" sz="2000" dirty="0"/>
          </a:p>
        </p:txBody>
      </p:sp>
      <p:sp>
        <p:nvSpPr>
          <p:cNvPr id="14" name="Text 12"/>
          <p:cNvSpPr txBox="1"/>
          <p:nvPr/>
        </p:nvSpPr>
        <p:spPr>
          <a:xfrm>
            <a:off x="7342632" y="2331720"/>
            <a:ext cx="4023360" cy="777240"/>
          </a:xfrm>
          <a:prstGeom prst="rect">
            <a:avLst/>
          </a:prstGeom>
          <a:noFill/>
          <a:ln/>
        </p:spPr>
        <p:txBody>
          <a:bodyPr wrap="square" lIns="0" tIns="0" rIns="0" bIns="0" rtlCol="0" anchor="t"/>
          <a:lstStyle/>
          <a:p>
            <a:pPr indent="0" marL="0">
              <a:buNone/>
            </a:pPr>
            <a:r>
              <a:rPr lang="en-US" sz="1400" dirty="0">
                <a:solidFill>
                  <a:schemeClr val="bg2"/>
                </a:solidFill>
              </a:rPr>
              <a:t>Focus on improving productivity and accuracy outcomes.</a:t>
            </a:r>
            <a:endParaRPr lang="en-US" sz="1400" dirty="0"/>
          </a:p>
        </p:txBody>
      </p:sp>
      <p:sp>
        <p:nvSpPr>
          <p:cNvPr id="15" name="Text 13"/>
          <p:cNvSpPr txBox="1"/>
          <p:nvPr/>
        </p:nvSpPr>
        <p:spPr>
          <a:xfrm>
            <a:off x="7342632" y="3154680"/>
            <a:ext cx="4023360" cy="320040"/>
          </a:xfrm>
          <a:prstGeom prst="rect">
            <a:avLst/>
          </a:prstGeom>
          <a:noFill/>
          <a:ln/>
        </p:spPr>
        <p:txBody>
          <a:bodyPr wrap="square" lIns="0" tIns="0" rIns="0" bIns="0" rtlCol="0" anchor="ctr"/>
          <a:lstStyle/>
          <a:p>
            <a:pPr indent="0" marL="0">
              <a:buNone/>
            </a:pPr>
            <a:r>
              <a:rPr lang="en-US" sz="1200" b="1" dirty="0">
                <a:solidFill>
                  <a:schemeClr val="accent2"/>
                </a:solidFill>
              </a:rPr>
              <a:t>Track: productivity and accuracy ratings</a:t>
            </a:r>
            <a:endParaRPr lang="en-US" sz="1200" dirty="0"/>
          </a:p>
        </p:txBody>
      </p:sp>
      <p:sp>
        <p:nvSpPr>
          <p:cNvPr id="16" name="Recommendation card"/>
          <p:cNvSpPr/>
          <p:nvPr/>
        </p:nvSpPr>
        <p:spPr>
          <a:xfrm>
            <a:off x="548640" y="3840480"/>
            <a:ext cx="5440680" cy="2011680"/>
          </a:xfrm>
          <a:prstGeom prst="roundRect">
            <a:avLst>
              <a:gd name="adj" fmla="val 5455"/>
            </a:avLst>
          </a:prstGeom>
          <a:solidFill>
            <a:schemeClr val="tx2"/>
          </a:solidFill>
          <a:ln/>
        </p:spPr>
      </p:sp>
      <p:sp>
        <p:nvSpPr>
          <p:cNvPr id="17" name="Number circle"/>
          <p:cNvSpPr/>
          <p:nvPr/>
        </p:nvSpPr>
        <p:spPr>
          <a:xfrm>
            <a:off x="822960" y="4114800"/>
            <a:ext cx="640080" cy="640080"/>
          </a:xfrm>
          <a:prstGeom prst="ellipse">
            <a:avLst/>
          </a:prstGeom>
          <a:solidFill>
            <a:schemeClr val="accent4"/>
          </a:solidFill>
          <a:ln/>
        </p:spPr>
      </p:sp>
      <p:sp>
        <p:nvSpPr>
          <p:cNvPr id="18" name="Text 16"/>
          <p:cNvSpPr txBox="1"/>
          <p:nvPr/>
        </p:nvSpPr>
        <p:spPr>
          <a:xfrm>
            <a:off x="822960" y="411480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3</a:t>
            </a:r>
            <a:endParaRPr lang="en-US" sz="2400" dirty="0"/>
          </a:p>
        </p:txBody>
      </p:sp>
      <p:sp>
        <p:nvSpPr>
          <p:cNvPr id="19" name="Text 17"/>
          <p:cNvSpPr txBox="1"/>
          <p:nvPr/>
        </p:nvSpPr>
        <p:spPr>
          <a:xfrm>
            <a:off x="1691640" y="4069080"/>
            <a:ext cx="4114800" cy="411480"/>
          </a:xfrm>
          <a:prstGeom prst="rect">
            <a:avLst/>
          </a:prstGeom>
          <a:noFill/>
          <a:ln/>
        </p:spPr>
        <p:txBody>
          <a:bodyPr wrap="square" lIns="0" tIns="0" rIns="0" bIns="0" rtlCol="0" anchor="ctr"/>
          <a:lstStyle/>
          <a:p>
            <a:pPr indent="0" marL="0">
              <a:buNone/>
            </a:pPr>
            <a:r>
              <a:rPr lang="en-US" sz="2000" b="1" dirty="0">
                <a:solidFill>
                  <a:schemeClr val="bg1"/>
                </a:solidFill>
              </a:rPr>
              <a:t>Target time savings</a:t>
            </a:r>
            <a:endParaRPr lang="en-US" sz="2000" dirty="0"/>
          </a:p>
        </p:txBody>
      </p:sp>
      <p:sp>
        <p:nvSpPr>
          <p:cNvPr id="20" name="Text 18"/>
          <p:cNvSpPr txBox="1"/>
          <p:nvPr/>
        </p:nvSpPr>
        <p:spPr>
          <a:xfrm>
            <a:off x="1691640" y="4526280"/>
            <a:ext cx="4023360" cy="777240"/>
          </a:xfrm>
          <a:prstGeom prst="rect">
            <a:avLst/>
          </a:prstGeom>
          <a:noFill/>
          <a:ln/>
        </p:spPr>
        <p:txBody>
          <a:bodyPr wrap="square" lIns="0" tIns="0" rIns="0" bIns="0" rtlCol="0" anchor="t"/>
          <a:lstStyle/>
          <a:p>
            <a:pPr indent="0" marL="0">
              <a:buNone/>
            </a:pPr>
            <a:r>
              <a:rPr lang="en-US" sz="1400" dirty="0">
                <a:solidFill>
                  <a:schemeClr val="bg2"/>
                </a:solidFill>
              </a:rPr>
              <a:t>Emphasize AI applications that generate measurable time savings.</a:t>
            </a:r>
            <a:endParaRPr lang="en-US" sz="1400" dirty="0"/>
          </a:p>
        </p:txBody>
      </p:sp>
      <p:sp>
        <p:nvSpPr>
          <p:cNvPr id="21" name="Text 19"/>
          <p:cNvSpPr txBox="1"/>
          <p:nvPr/>
        </p:nvSpPr>
        <p:spPr>
          <a:xfrm>
            <a:off x="1691640" y="5349240"/>
            <a:ext cx="4023360" cy="320040"/>
          </a:xfrm>
          <a:prstGeom prst="rect">
            <a:avLst/>
          </a:prstGeom>
          <a:noFill/>
          <a:ln/>
        </p:spPr>
        <p:txBody>
          <a:bodyPr wrap="square" lIns="0" tIns="0" rIns="0" bIns="0" rtlCol="0" anchor="ctr"/>
          <a:lstStyle/>
          <a:p>
            <a:pPr indent="0" marL="0">
              <a:buNone/>
            </a:pPr>
            <a:r>
              <a:rPr lang="en-US" sz="1200" b="1" dirty="0">
                <a:solidFill>
                  <a:schemeClr val="accent2"/>
                </a:solidFill>
              </a:rPr>
              <a:t>Track: hours saved per user</a:t>
            </a:r>
            <a:endParaRPr lang="en-US" sz="1200" dirty="0"/>
          </a:p>
        </p:txBody>
      </p:sp>
      <p:sp>
        <p:nvSpPr>
          <p:cNvPr id="22" name="Recommendation card"/>
          <p:cNvSpPr/>
          <p:nvPr/>
        </p:nvSpPr>
        <p:spPr>
          <a:xfrm>
            <a:off x="6199632" y="3840480"/>
            <a:ext cx="5440680" cy="2011680"/>
          </a:xfrm>
          <a:prstGeom prst="roundRect">
            <a:avLst>
              <a:gd name="adj" fmla="val 5455"/>
            </a:avLst>
          </a:prstGeom>
          <a:solidFill>
            <a:schemeClr val="tx2"/>
          </a:solidFill>
          <a:ln/>
        </p:spPr>
      </p:sp>
      <p:sp>
        <p:nvSpPr>
          <p:cNvPr id="23" name="Number circle"/>
          <p:cNvSpPr/>
          <p:nvPr/>
        </p:nvSpPr>
        <p:spPr>
          <a:xfrm>
            <a:off x="6473952" y="4114800"/>
            <a:ext cx="640080" cy="640080"/>
          </a:xfrm>
          <a:prstGeom prst="ellipse">
            <a:avLst/>
          </a:prstGeom>
          <a:solidFill>
            <a:schemeClr val="accent3"/>
          </a:solidFill>
          <a:ln/>
        </p:spPr>
      </p:sp>
      <p:sp>
        <p:nvSpPr>
          <p:cNvPr id="24" name="Text 22"/>
          <p:cNvSpPr txBox="1"/>
          <p:nvPr/>
        </p:nvSpPr>
        <p:spPr>
          <a:xfrm>
            <a:off x="6473952" y="411480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4</a:t>
            </a:r>
            <a:endParaRPr lang="en-US" sz="2400" dirty="0"/>
          </a:p>
        </p:txBody>
      </p:sp>
      <p:sp>
        <p:nvSpPr>
          <p:cNvPr id="25" name="Text 23"/>
          <p:cNvSpPr txBox="1"/>
          <p:nvPr/>
        </p:nvSpPr>
        <p:spPr>
          <a:xfrm>
            <a:off x="7342632" y="4069080"/>
            <a:ext cx="4114800" cy="411480"/>
          </a:xfrm>
          <a:prstGeom prst="rect">
            <a:avLst/>
          </a:prstGeom>
          <a:noFill/>
          <a:ln/>
        </p:spPr>
        <p:txBody>
          <a:bodyPr wrap="square" lIns="0" tIns="0" rIns="0" bIns="0" rtlCol="0" anchor="ctr"/>
          <a:lstStyle/>
          <a:p>
            <a:pPr indent="0" marL="0">
              <a:buNone/>
            </a:pPr>
            <a:r>
              <a:rPr lang="en-US" sz="2000" b="1" dirty="0">
                <a:solidFill>
                  <a:schemeClr val="bg1"/>
                </a:solidFill>
              </a:rPr>
              <a:t>Measure value, not spend</a:t>
            </a:r>
            <a:endParaRPr lang="en-US" sz="2000" dirty="0"/>
          </a:p>
        </p:txBody>
      </p:sp>
      <p:sp>
        <p:nvSpPr>
          <p:cNvPr id="26" name="Text 24"/>
          <p:cNvSpPr txBox="1"/>
          <p:nvPr/>
        </p:nvSpPr>
        <p:spPr>
          <a:xfrm>
            <a:off x="7342632" y="4526280"/>
            <a:ext cx="4023360" cy="777240"/>
          </a:xfrm>
          <a:prstGeom prst="rect">
            <a:avLst/>
          </a:prstGeom>
          <a:noFill/>
          <a:ln/>
        </p:spPr>
        <p:txBody>
          <a:bodyPr wrap="square" lIns="0" tIns="0" rIns="0" bIns="0" rtlCol="0" anchor="t"/>
          <a:lstStyle/>
          <a:p>
            <a:pPr indent="0" marL="0">
              <a:buNone/>
            </a:pPr>
            <a:r>
              <a:rPr lang="en-US" sz="1400" dirty="0">
                <a:solidFill>
                  <a:schemeClr val="bg2"/>
                </a:solidFill>
              </a:rPr>
              <a:t>Judge AI success by the value it generates, not by spending levels.</a:t>
            </a:r>
            <a:endParaRPr lang="en-US" sz="1400" dirty="0"/>
          </a:p>
        </p:txBody>
      </p:sp>
      <p:sp>
        <p:nvSpPr>
          <p:cNvPr id="27" name="Text 25"/>
          <p:cNvSpPr txBox="1"/>
          <p:nvPr/>
        </p:nvSpPr>
        <p:spPr>
          <a:xfrm>
            <a:off x="7342632" y="5349240"/>
            <a:ext cx="4023360" cy="320040"/>
          </a:xfrm>
          <a:prstGeom prst="rect">
            <a:avLst/>
          </a:prstGeom>
          <a:noFill/>
          <a:ln/>
        </p:spPr>
        <p:txBody>
          <a:bodyPr wrap="square" lIns="0" tIns="0" rIns="0" bIns="0" rtlCol="0" anchor="ctr"/>
          <a:lstStyle/>
          <a:p>
            <a:pPr indent="0" marL="0">
              <a:buNone/>
            </a:pPr>
            <a:r>
              <a:rPr lang="en-US" sz="1200" b="1" dirty="0">
                <a:solidFill>
                  <a:schemeClr val="accent2"/>
                </a:solidFill>
              </a:rPr>
              <a:t>Track: value delivered per dollar spent</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AI Impact">
  <a:themeElements>
    <a:clrScheme name="AI Impact">
      <a:dk1>
        <a:srgbClr val="0F172A"/>
      </a:dk1>
      <a:lt1>
        <a:srgbClr val="FFFFFF"/>
      </a:lt1>
      <a:dk2>
        <a:srgbClr val="1E293B"/>
      </a:dk2>
      <a:lt2>
        <a:srgbClr val="F1F5F9"/>
      </a:lt2>
      <a:accent1>
        <a:srgbClr val="6D5BFF"/>
      </a:accent1>
      <a:accent2>
        <a:srgbClr val="14B8A6"/>
      </a:accent2>
      <a:accent3>
        <a:srgbClr val="F59E0B"/>
      </a:accent3>
      <a:accent4>
        <a:srgbClr val="38BDF8"/>
      </a:accent4>
      <a:accent5>
        <a:srgbClr val="94A3B8"/>
      </a:accent5>
      <a:accent6>
        <a:srgbClr val="F43F5E"/>
      </a:accent6>
      <a:hlink>
        <a:srgbClr val="6D5BFF"/>
      </a:hlink>
      <a:folHlink>
        <a:srgbClr val="94A3B8"/>
      </a:folHlink>
    </a:clrScheme>
    <a:fontScheme name="AI Impac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Usage and Impact Analysis</dc:title>
  <dc:subject>PptxGenJS Presentation</dc:subject>
  <dc:creator>PptxGenJS</dc:creator>
  <cp:lastModifiedBy>PptxGenJS</cp:lastModifiedBy>
  <cp:revision>1</cp:revision>
  <dcterms:created xsi:type="dcterms:W3CDTF">2026-10-22T16:18:54Z</dcterms:created>
  <dcterms:modified xsi:type="dcterms:W3CDTF">2026-10-22T16:18:54Z</dcterms:modified>
</cp:coreProperties>
</file>